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5" r:id="rId2"/>
    <p:sldId id="276" r:id="rId3"/>
    <p:sldId id="282" r:id="rId4"/>
    <p:sldId id="280" r:id="rId5"/>
    <p:sldId id="297" r:id="rId6"/>
    <p:sldId id="292" r:id="rId7"/>
    <p:sldId id="293" r:id="rId8"/>
    <p:sldId id="290" r:id="rId9"/>
    <p:sldId id="300" r:id="rId10"/>
    <p:sldId id="295" r:id="rId11"/>
    <p:sldId id="275" r:id="rId12"/>
    <p:sldId id="294" r:id="rId13"/>
    <p:sldId id="274" r:id="rId14"/>
    <p:sldId id="278" r:id="rId15"/>
    <p:sldId id="279" r:id="rId16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53" autoAdjust="0"/>
    <p:restoredTop sz="95859" autoAdjust="0"/>
  </p:normalViewPr>
  <p:slideViewPr>
    <p:cSldViewPr>
      <p:cViewPr varScale="1">
        <p:scale>
          <a:sx n="45" d="100"/>
          <a:sy n="45" d="100"/>
        </p:scale>
        <p:origin x="264" y="48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8E2-455A-DA4E-9A7B-87605B80F021}" type="datetimeFigureOut">
              <a:rPr lang="en-US" smtClean="0"/>
              <a:t>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5104C4-CC1D-D841-8988-C75559251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4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104C4-CC1D-D841-8988-C755592510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79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104C4-CC1D-D841-8988-C755592510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9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53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7"/>
            <a:ext cx="18288000" cy="4775200"/>
          </a:xfrm>
        </p:spPr>
        <p:txBody>
          <a:bodyPr anchor="b"/>
          <a:lstStyle>
            <a:lvl1pPr algn="ctr">
              <a:defRPr sz="11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8"/>
            <a:ext cx="18288000" cy="3311524"/>
          </a:xfrm>
        </p:spPr>
        <p:txBody>
          <a:bodyPr/>
          <a:lstStyle>
            <a:lvl1pPr marL="0" indent="0" algn="ctr">
              <a:buNone/>
              <a:defRPr sz="4799"/>
            </a:lvl1pPr>
            <a:lvl2pPr marL="914301" indent="0" algn="ctr">
              <a:buNone/>
              <a:defRPr sz="3999"/>
            </a:lvl2pPr>
            <a:lvl3pPr marL="1828601" indent="0" algn="ctr">
              <a:buNone/>
              <a:defRPr sz="3600"/>
            </a:lvl3pPr>
            <a:lvl4pPr marL="2742900" indent="0" algn="ctr">
              <a:buNone/>
              <a:defRPr sz="3200"/>
            </a:lvl4pPr>
            <a:lvl5pPr marL="3657201" indent="0" algn="ctr">
              <a:buNone/>
              <a:defRPr sz="3200"/>
            </a:lvl5pPr>
            <a:lvl6pPr marL="4571502" indent="0" algn="ctr">
              <a:buNone/>
              <a:defRPr sz="3200"/>
            </a:lvl6pPr>
            <a:lvl7pPr marL="5485802" indent="0" algn="ctr">
              <a:buNone/>
              <a:defRPr sz="3200"/>
            </a:lvl7pPr>
            <a:lvl8pPr marL="6400103" indent="0" algn="ctr">
              <a:buNone/>
              <a:defRPr sz="3200"/>
            </a:lvl8pPr>
            <a:lvl9pPr marL="731440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1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8"/>
            <a:ext cx="21031200" cy="5705474"/>
          </a:xfrm>
        </p:spPr>
        <p:txBody>
          <a:bodyPr anchor="b"/>
          <a:lstStyle>
            <a:lvl1pPr>
              <a:defRPr sz="11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1pPr>
            <a:lvl2pPr marL="914301" indent="0">
              <a:buNone/>
              <a:defRPr sz="3999">
                <a:solidFill>
                  <a:schemeClr val="tx1">
                    <a:tint val="75000"/>
                  </a:schemeClr>
                </a:solidFill>
              </a:defRPr>
            </a:lvl2pPr>
            <a:lvl3pPr marL="1828601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0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0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0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0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0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981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1"/>
            <a:ext cx="103632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1"/>
            <a:ext cx="103632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76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301" indent="0">
              <a:buNone/>
              <a:defRPr sz="3999" b="1"/>
            </a:lvl2pPr>
            <a:lvl3pPr marL="1828601" indent="0">
              <a:buNone/>
              <a:defRPr sz="3600" b="1"/>
            </a:lvl3pPr>
            <a:lvl4pPr marL="2742900" indent="0">
              <a:buNone/>
              <a:defRPr sz="3200" b="1"/>
            </a:lvl4pPr>
            <a:lvl5pPr marL="3657201" indent="0">
              <a:buNone/>
              <a:defRPr sz="3200" b="1"/>
            </a:lvl5pPr>
            <a:lvl6pPr marL="4571502" indent="0">
              <a:buNone/>
              <a:defRPr sz="3200" b="1"/>
            </a:lvl6pPr>
            <a:lvl7pPr marL="5485802" indent="0">
              <a:buNone/>
              <a:defRPr sz="3200" b="1"/>
            </a:lvl7pPr>
            <a:lvl8pPr marL="6400103" indent="0">
              <a:buNone/>
              <a:defRPr sz="3200" b="1"/>
            </a:lvl8pPr>
            <a:lvl9pPr marL="7314404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301" indent="0">
              <a:buNone/>
              <a:defRPr sz="3999" b="1"/>
            </a:lvl2pPr>
            <a:lvl3pPr marL="1828601" indent="0">
              <a:buNone/>
              <a:defRPr sz="3600" b="1"/>
            </a:lvl3pPr>
            <a:lvl4pPr marL="2742900" indent="0">
              <a:buNone/>
              <a:defRPr sz="3200" b="1"/>
            </a:lvl4pPr>
            <a:lvl5pPr marL="3657201" indent="0">
              <a:buNone/>
              <a:defRPr sz="3200" b="1"/>
            </a:lvl5pPr>
            <a:lvl6pPr marL="4571502" indent="0">
              <a:buNone/>
              <a:defRPr sz="3200" b="1"/>
            </a:lvl6pPr>
            <a:lvl7pPr marL="5485802" indent="0">
              <a:buNone/>
              <a:defRPr sz="3200" b="1"/>
            </a:lvl7pPr>
            <a:lvl8pPr marL="6400103" indent="0">
              <a:buNone/>
              <a:defRPr sz="3200" b="1"/>
            </a:lvl8pPr>
            <a:lvl9pPr marL="7314404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08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3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398"/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2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01" indent="0">
              <a:buNone/>
              <a:defRPr sz="2799"/>
            </a:lvl2pPr>
            <a:lvl3pPr marL="1828601" indent="0">
              <a:buNone/>
              <a:defRPr sz="2400"/>
            </a:lvl3pPr>
            <a:lvl4pPr marL="2742900" indent="0">
              <a:buNone/>
              <a:defRPr sz="2000"/>
            </a:lvl4pPr>
            <a:lvl5pPr marL="3657201" indent="0">
              <a:buNone/>
              <a:defRPr sz="2000"/>
            </a:lvl5pPr>
            <a:lvl6pPr marL="4571502" indent="0">
              <a:buNone/>
              <a:defRPr sz="2000"/>
            </a:lvl6pPr>
            <a:lvl7pPr marL="5485802" indent="0">
              <a:buNone/>
              <a:defRPr sz="2000"/>
            </a:lvl7pPr>
            <a:lvl8pPr marL="6400103" indent="0">
              <a:buNone/>
              <a:defRPr sz="2000"/>
            </a:lvl8pPr>
            <a:lvl9pPr marL="7314404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08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398"/>
            </a:lvl1pPr>
            <a:lvl2pPr marL="914301" indent="0">
              <a:buNone/>
              <a:defRPr sz="5599"/>
            </a:lvl2pPr>
            <a:lvl3pPr marL="1828601" indent="0">
              <a:buNone/>
              <a:defRPr sz="4799"/>
            </a:lvl3pPr>
            <a:lvl4pPr marL="2742900" indent="0">
              <a:buNone/>
              <a:defRPr sz="3999"/>
            </a:lvl4pPr>
            <a:lvl5pPr marL="3657201" indent="0">
              <a:buNone/>
              <a:defRPr sz="3999"/>
            </a:lvl5pPr>
            <a:lvl6pPr marL="4571502" indent="0">
              <a:buNone/>
              <a:defRPr sz="3999"/>
            </a:lvl6pPr>
            <a:lvl7pPr marL="5485802" indent="0">
              <a:buNone/>
              <a:defRPr sz="3999"/>
            </a:lvl7pPr>
            <a:lvl8pPr marL="6400103" indent="0">
              <a:buNone/>
              <a:defRPr sz="3999"/>
            </a:lvl8pPr>
            <a:lvl9pPr marL="7314404" indent="0">
              <a:buNone/>
              <a:defRPr sz="3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2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01" indent="0">
              <a:buNone/>
              <a:defRPr sz="2799"/>
            </a:lvl2pPr>
            <a:lvl3pPr marL="1828601" indent="0">
              <a:buNone/>
              <a:defRPr sz="2400"/>
            </a:lvl3pPr>
            <a:lvl4pPr marL="2742900" indent="0">
              <a:buNone/>
              <a:defRPr sz="2000"/>
            </a:lvl4pPr>
            <a:lvl5pPr marL="3657201" indent="0">
              <a:buNone/>
              <a:defRPr sz="2000"/>
            </a:lvl5pPr>
            <a:lvl6pPr marL="4571502" indent="0">
              <a:buNone/>
              <a:defRPr sz="2000"/>
            </a:lvl6pPr>
            <a:lvl7pPr marL="5485802" indent="0">
              <a:buNone/>
              <a:defRPr sz="2000"/>
            </a:lvl7pPr>
            <a:lvl8pPr marL="6400103" indent="0">
              <a:buNone/>
              <a:defRPr sz="2000"/>
            </a:lvl8pPr>
            <a:lvl9pPr marL="7314404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8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6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1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1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4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1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38B4DC-CC93-7840-9FD9-89411D880AE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16600" y="12194466"/>
            <a:ext cx="5196555" cy="9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1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1828601" rtl="0" eaLnBrk="1" latinLnBrk="0" hangingPunct="1">
        <a:lnSpc>
          <a:spcPct val="90000"/>
        </a:lnSpc>
        <a:spcBef>
          <a:spcPct val="0"/>
        </a:spcBef>
        <a:buNone/>
        <a:defRPr sz="8799" kern="1200">
          <a:solidFill>
            <a:schemeClr val="accent1">
              <a:lumMod val="50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457150" indent="-457150" algn="l" defTabSz="1828601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>
              <a:lumMod val="65000"/>
              <a:lumOff val="35000"/>
            </a:schemeClr>
          </a:solidFill>
          <a:latin typeface="Arial Narrow" panose="020B0606020202030204" pitchFamily="34" charset="0"/>
          <a:ea typeface="+mn-ea"/>
          <a:cs typeface="+mn-cs"/>
        </a:defRPr>
      </a:lvl1pPr>
      <a:lvl2pPr marL="1371450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>
              <a:lumMod val="65000"/>
              <a:lumOff val="35000"/>
            </a:schemeClr>
          </a:solidFill>
          <a:latin typeface="Arial Narrow" panose="020B0606020202030204" pitchFamily="34" charset="0"/>
          <a:ea typeface="+mn-ea"/>
          <a:cs typeface="+mn-cs"/>
        </a:defRPr>
      </a:lvl2pPr>
      <a:lvl3pPr marL="2285751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>
              <a:lumMod val="65000"/>
              <a:lumOff val="35000"/>
            </a:schemeClr>
          </a:solidFill>
          <a:latin typeface="Arial Narrow" panose="020B0606020202030204" pitchFamily="34" charset="0"/>
          <a:ea typeface="+mn-ea"/>
          <a:cs typeface="+mn-cs"/>
        </a:defRPr>
      </a:lvl3pPr>
      <a:lvl4pPr marL="3200051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65000"/>
              <a:lumOff val="35000"/>
            </a:schemeClr>
          </a:solidFill>
          <a:latin typeface="Arial Narrow" panose="020B0606020202030204" pitchFamily="34" charset="0"/>
          <a:ea typeface="+mn-ea"/>
          <a:cs typeface="+mn-cs"/>
        </a:defRPr>
      </a:lvl4pPr>
      <a:lvl5pPr marL="4114351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65000"/>
              <a:lumOff val="35000"/>
            </a:schemeClr>
          </a:solidFill>
          <a:latin typeface="Arial Narrow" panose="020B0606020202030204" pitchFamily="34" charset="0"/>
          <a:ea typeface="+mn-ea"/>
          <a:cs typeface="+mn-cs"/>
        </a:defRPr>
      </a:lvl5pPr>
      <a:lvl6pPr marL="5028653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953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254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553" indent="-457150" algn="l" defTabSz="182860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01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01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900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201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502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802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103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404" algn="l" defTabSz="1828601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benedictgk@rice.edu" TargetMode="External"/><Relationship Id="rId2" Type="http://schemas.openxmlformats.org/officeDocument/2006/relationships/hyperlink" Target="http://www.benedictgk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27757"/>
            <a:ext cx="24384000" cy="4775200"/>
          </a:xfrm>
        </p:spPr>
        <p:txBody>
          <a:bodyPr>
            <a:normAutofit/>
          </a:bodyPr>
          <a:lstStyle/>
          <a:p>
            <a:r>
              <a:rPr lang="en-US" b="1" dirty="0"/>
              <a:t>“Rewards and Consumption in the Credit Card Market” by Tianyu Han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7239000"/>
            <a:ext cx="24384000" cy="3311524"/>
          </a:xfrm>
        </p:spPr>
        <p:txBody>
          <a:bodyPr>
            <a:noAutofit/>
          </a:bodyPr>
          <a:lstStyle/>
          <a:p>
            <a:r>
              <a:rPr lang="en-US" sz="10000" b="1" dirty="0">
                <a:solidFill>
                  <a:schemeClr val="tx1"/>
                </a:solidFill>
              </a:rPr>
              <a:t>Discussion: Benedict Guttman-Kenney</a:t>
            </a:r>
          </a:p>
          <a:p>
            <a:r>
              <a:rPr lang="en-US" sz="10000" b="1" dirty="0">
                <a:solidFill>
                  <a:schemeClr val="tx1"/>
                </a:solidFill>
              </a:rPr>
              <a:t>Rice University</a:t>
            </a:r>
          </a:p>
        </p:txBody>
      </p:sp>
    </p:spTree>
    <p:extLst>
      <p:ext uri="{BB962C8B-B14F-4D97-AF65-F5344CB8AC3E}">
        <p14:creationId xmlns:p14="http://schemas.microsoft.com/office/powerpoint/2010/main" val="181901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390D77-5570-2035-A76A-C531CE4B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741D-4A92-4920-1AEE-5952A9404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6229" y="1254125"/>
            <a:ext cx="18288000" cy="1946273"/>
          </a:xfrm>
        </p:spPr>
        <p:txBody>
          <a:bodyPr/>
          <a:lstStyle/>
          <a:p>
            <a:r>
              <a:rPr lang="en-US" dirty="0"/>
              <a:t>Credit Card 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8B43F-A3D2-FD60-EF00-1B1DCBDB1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9771" y="3229030"/>
            <a:ext cx="18288000" cy="6096002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Many papers documenting behavioral mistakes in the credit card market</a:t>
            </a: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- Focus on costs of mistakenly incurring interest or late fees</a:t>
            </a:r>
          </a:p>
          <a:p>
            <a:pPr algn="l"/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Beshears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Choi, 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Laibson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Madrian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18 Handbook Chapter)</a:t>
            </a: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- Increasing recent focus on rewards</a:t>
            </a:r>
          </a:p>
          <a:p>
            <a:pPr algn="l"/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(e.g., 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Mukharlyamov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Sarin, 24; Wang 24; Huynh, Nicholls and Shcherbakov 22; Agarwal, 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Presbitero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Silva, and Wix 23; Agarwal, Ang, Wang, and Zhang 24)</a:t>
            </a:r>
          </a:p>
        </p:txBody>
      </p:sp>
      <p:pic>
        <p:nvPicPr>
          <p:cNvPr id="5" name="Picture 4" descr="A credit card with cartoon character holding money&#10;&#10;Description automatically generated">
            <a:extLst>
              <a:ext uri="{FF2B5EF4-FFF2-40B4-BE49-F238E27FC236}">
                <a16:creationId xmlns:a16="http://schemas.microsoft.com/office/drawing/2014/main" id="{06E6C806-494B-F5E4-8FCE-A89894656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75" y="8382000"/>
            <a:ext cx="7301450" cy="47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5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9F56E7-9299-17C6-B64A-1F06DA28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C19E-5306-5D8D-C771-2DFD76130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254125"/>
            <a:ext cx="18288000" cy="1946273"/>
          </a:xfrm>
        </p:spPr>
        <p:txBody>
          <a:bodyPr/>
          <a:lstStyle/>
          <a:p>
            <a:r>
              <a:rPr lang="en-US" dirty="0"/>
              <a:t>Data and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29452-759E-9B8E-6D6F-58CD69365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5343" y="4114800"/>
            <a:ext cx="21336000" cy="60960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Administrative data from large Chinese bank who offers credit cards.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RDD for platinum reward card eligibility to estimate effects of rewards on spending. </a:t>
            </a:r>
          </a:p>
          <a:p>
            <a:pPr algn="l"/>
            <a:r>
              <a:rPr lang="en-US" dirty="0"/>
              <a:t>(“Fuzzy RDD is IV”, Angrist and </a:t>
            </a:r>
            <a:r>
              <a:rPr lang="en-US" dirty="0" err="1"/>
              <a:t>Pischke</a:t>
            </a:r>
            <a:r>
              <a:rPr lang="en-US" dirty="0"/>
              <a:t>, 2009)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Use linked survey of 4,565 credit card users. Response rate?</a:t>
            </a:r>
          </a:p>
          <a:p>
            <a:pPr algn="l"/>
            <a:r>
              <a:rPr lang="en-US" dirty="0"/>
              <a:t>(see </a:t>
            </a:r>
            <a:r>
              <a:rPr lang="en-US" dirty="0" err="1"/>
              <a:t>Stantcheva</a:t>
            </a:r>
            <a:r>
              <a:rPr lang="en-US" dirty="0"/>
              <a:t> 22 Ann. Review of Economics; Bergman, </a:t>
            </a:r>
            <a:r>
              <a:rPr lang="en-US" dirty="0" err="1"/>
              <a:t>Chinco</a:t>
            </a:r>
            <a:r>
              <a:rPr lang="en-US" dirty="0"/>
              <a:t>, </a:t>
            </a:r>
            <a:r>
              <a:rPr lang="en-US" dirty="0" err="1"/>
              <a:t>Hartzmark</a:t>
            </a:r>
            <a:r>
              <a:rPr lang="en-US" dirty="0"/>
              <a:t>, &amp; Sussman 20)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Structural model evaluating implications for market structure &amp; welfare.</a:t>
            </a:r>
          </a:p>
        </p:txBody>
      </p:sp>
    </p:spTree>
    <p:extLst>
      <p:ext uri="{BB962C8B-B14F-4D97-AF65-F5344CB8AC3E}">
        <p14:creationId xmlns:p14="http://schemas.microsoft.com/office/powerpoint/2010/main" val="329395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ED49D8-AD60-2F86-ED7F-9AB1B2FE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FFF1-CC8E-19D5-5666-448D5B5B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288284"/>
            <a:ext cx="18288000" cy="1946273"/>
          </a:xfrm>
        </p:spPr>
        <p:txBody>
          <a:bodyPr/>
          <a:lstStyle/>
          <a:p>
            <a:r>
              <a:rPr lang="en-US" dirty="0"/>
              <a:t>Han’s 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EC5BF-4B12-13EA-C263-D009AE3C9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258205"/>
            <a:ext cx="18288000" cy="60960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1. Rewards ➡️ Spend More on Reward </a:t>
            </a:r>
            <a:r>
              <a:rPr lang="en-US" b="1" i="1" dirty="0">
                <a:solidFill>
                  <a:schemeClr val="tx1"/>
                </a:solidFill>
              </a:rPr>
              <a:t>and on Non-Reward </a:t>
            </a:r>
            <a:r>
              <a:rPr lang="en-US" dirty="0">
                <a:solidFill>
                  <a:schemeClr val="tx1"/>
                </a:solidFill>
              </a:rPr>
              <a:t>Categories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Reward spending $64 (30%?), non-reward spending $54 (5%?)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2. Why ⬆️ Non-Reward Spending? </a:t>
            </a:r>
            <a:r>
              <a:rPr lang="en-US" dirty="0">
                <a:solidFill>
                  <a:schemeClr val="tx1"/>
                </a:solidFill>
              </a:rPr>
              <a:t>‘Complementary Ignorance’                      (naïve consumers under-estimate how rewards change non-reward spending)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e.g., airline rewards ➡️ book flight.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But don’t consider also spend on non-reward category (e.g. car rental)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3. Implications?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(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) Incentive banks to offer more generous rewards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(ii) Cross-subsidizes less to more sophisticated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	(iii) 2.5% consumption cost per month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7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5D76E2-6687-F946-422D-70BE4BD1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1860-9484-1471-1349-AB7C2D555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288284"/>
            <a:ext cx="18288000" cy="1946273"/>
          </a:xfrm>
        </p:spPr>
        <p:txBody>
          <a:bodyPr>
            <a:normAutofit/>
          </a:bodyPr>
          <a:lstStyle/>
          <a:p>
            <a:r>
              <a:rPr lang="en-US" dirty="0"/>
              <a:t>Big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77BDF-67D2-F0D7-A176-7CD0F1B6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258204"/>
            <a:ext cx="18288000" cy="9169511"/>
          </a:xfrm>
        </p:spPr>
        <p:txBody>
          <a:bodyPr>
            <a:no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Impressive data collection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Convincing RDD design to show that rewards “work”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Interesting new theory</a:t>
            </a: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Three Discussion Points: </a:t>
            </a:r>
          </a:p>
          <a:p>
            <a:pPr marL="914400" indent="-914400"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Rewards</a:t>
            </a:r>
          </a:p>
          <a:p>
            <a:pPr marL="914400" indent="-914400"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Mistakes</a:t>
            </a:r>
          </a:p>
          <a:p>
            <a:pPr marL="914400" indent="-914400"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Implications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14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4E7500-9B1E-1F87-33EE-536E6440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7FF1-4EC5-828F-E5BB-8F23965A9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203436"/>
            <a:ext cx="18288000" cy="1946273"/>
          </a:xfrm>
        </p:spPr>
        <p:txBody>
          <a:bodyPr>
            <a:normAutofit fontScale="90000"/>
          </a:bodyPr>
          <a:lstStyle/>
          <a:p>
            <a:r>
              <a:rPr lang="en-US" dirty="0"/>
              <a:t>Linking Reward Effects to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3D88B-DFDE-20F3-5539-047275F5B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603801"/>
            <a:ext cx="20586700" cy="6096002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Good job of linking to </a:t>
            </a:r>
            <a:r>
              <a:rPr lang="en-US" sz="4800" dirty="0" err="1">
                <a:solidFill>
                  <a:schemeClr val="tx1"/>
                </a:solidFill>
              </a:rPr>
              <a:t>Bursztyn</a:t>
            </a:r>
            <a:r>
              <a:rPr lang="en-US" sz="4800" dirty="0">
                <a:solidFill>
                  <a:schemeClr val="tx1"/>
                </a:solidFill>
              </a:rPr>
              <a:t>, Ferman, </a:t>
            </a:r>
            <a:r>
              <a:rPr lang="en-US" sz="4800" dirty="0" err="1">
                <a:solidFill>
                  <a:schemeClr val="tx1"/>
                </a:solidFill>
              </a:rPr>
              <a:t>Fiorin</a:t>
            </a:r>
            <a:r>
              <a:rPr lang="en-US" sz="4800" dirty="0">
                <a:solidFill>
                  <a:schemeClr val="tx1"/>
                </a:solidFill>
              </a:rPr>
              <a:t>, Kanz, &amp; Rao (17 QJE) </a:t>
            </a:r>
          </a:p>
          <a:p>
            <a:pPr marL="685800" indent="-685800" algn="l">
              <a:buFontTx/>
              <a:buChar char="-"/>
            </a:pPr>
            <a:r>
              <a:rPr lang="en-US" sz="4800" dirty="0">
                <a:solidFill>
                  <a:schemeClr val="tx1"/>
                </a:solidFill>
              </a:rPr>
              <a:t>platinum cards are status goods &amp; ⬆️ in-person spending</a:t>
            </a:r>
          </a:p>
          <a:p>
            <a:pPr algn="l"/>
            <a:r>
              <a:rPr lang="en-US" sz="4800" b="1" dirty="0">
                <a:solidFill>
                  <a:schemeClr val="tx1"/>
                </a:solidFill>
              </a:rPr>
              <a:t>➡️ Han’s paper shows effect on online transactions.</a:t>
            </a:r>
            <a:endParaRPr lang="en-US" sz="4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Gelman &amp; </a:t>
            </a:r>
            <a:r>
              <a:rPr lang="en-US" sz="4800" dirty="0" err="1">
                <a:solidFill>
                  <a:schemeClr val="tx1"/>
                </a:solidFill>
              </a:rPr>
              <a:t>Roussanov</a:t>
            </a:r>
            <a:r>
              <a:rPr lang="en-US" sz="4800" dirty="0">
                <a:solidFill>
                  <a:schemeClr val="tx1"/>
                </a:solidFill>
              </a:rPr>
              <a:t> (24 RFS): </a:t>
            </a: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New credit card -&gt; ⬆️ credit card spending </a:t>
            </a:r>
          </a:p>
          <a:p>
            <a:pPr algn="l"/>
            <a:r>
              <a:rPr lang="en-US" sz="4800" b="1" dirty="0">
                <a:solidFill>
                  <a:schemeClr val="tx1"/>
                </a:solidFill>
              </a:rPr>
              <a:t>➡️ What is the marginal value of rewards?</a:t>
            </a:r>
          </a:p>
          <a:p>
            <a:pPr algn="l"/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Rewards ⬆️ spending is consistent with US evidence</a:t>
            </a:r>
          </a:p>
          <a:p>
            <a:pPr algn="l"/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(Agarwal, </a:t>
            </a:r>
            <a:r>
              <a:rPr lang="en-US" sz="4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Presbitero</a:t>
            </a:r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Silva, &amp; Wix 23; Agarwal, Ang, Wang, &amp; Zhang 24)</a:t>
            </a:r>
          </a:p>
          <a:p>
            <a:pPr algn="l"/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➡️ Decompose non-reward effects into credit card &amp; non-credit card?</a:t>
            </a:r>
          </a:p>
        </p:txBody>
      </p:sp>
      <p:pic>
        <p:nvPicPr>
          <p:cNvPr id="5" name="Picture 4" descr="A graph showing the results of a treatment&#10;&#10;Description automatically generated">
            <a:extLst>
              <a:ext uri="{FF2B5EF4-FFF2-40B4-BE49-F238E27FC236}">
                <a16:creationId xmlns:a16="http://schemas.microsoft.com/office/drawing/2014/main" id="{995C08BC-ECFD-D141-EF3E-76997A1D6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6324137"/>
            <a:ext cx="7840580" cy="4897843"/>
          </a:xfrm>
          <a:prstGeom prst="rect">
            <a:avLst/>
          </a:prstGeom>
        </p:spPr>
      </p:pic>
      <p:pic>
        <p:nvPicPr>
          <p:cNvPr id="7" name="Picture 6" descr="Several credit cards in different colors&#10;&#10;Description automatically generated">
            <a:extLst>
              <a:ext uri="{FF2B5EF4-FFF2-40B4-BE49-F238E27FC236}">
                <a16:creationId xmlns:a16="http://schemas.microsoft.com/office/drawing/2014/main" id="{06453EB2-9947-E3BB-12FB-A4317A852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8050" y="3231973"/>
            <a:ext cx="5295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2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7F8DE4-4ECC-5924-F52E-6CE4C511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ADB7-E229-DF91-DEEF-80BC8B232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3181" y="1295400"/>
            <a:ext cx="18288000" cy="1946273"/>
          </a:xfrm>
        </p:spPr>
        <p:txBody>
          <a:bodyPr>
            <a:normAutofit/>
          </a:bodyPr>
          <a:lstStyle/>
          <a:p>
            <a:r>
              <a:rPr lang="en-US" dirty="0"/>
              <a:t>#1: Platinum vs. Gold Rewards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1CF73-D8DC-2104-7B60-E17838DAD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47181" y="4911727"/>
            <a:ext cx="11908219" cy="5680073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Rewards (slightly?) reduce price of travel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platinum rewards only for travel?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rewards are % spending?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are salient?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MCCs drive “non-reward” results?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scope of this paper…                                                     how do consumers value different rewards?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4992E-97CE-9C12-E10D-57BD57E6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73" y="3581400"/>
            <a:ext cx="10763027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8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46C0D5-CA7E-1AB0-5154-D75CD2E0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6466-AC64-3A69-4CFB-97903462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447800"/>
            <a:ext cx="18288000" cy="1946273"/>
          </a:xfrm>
        </p:spPr>
        <p:txBody>
          <a:bodyPr/>
          <a:lstStyle/>
          <a:p>
            <a:r>
              <a:rPr lang="en-US" dirty="0"/>
              <a:t>#2 Mistakes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23956-A8E8-F208-1EBE-081CFADF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394072"/>
            <a:ext cx="20497800" cy="9255128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 expected:</a:t>
            </a:r>
          </a:p>
          <a:p>
            <a:pPr marL="742950" indent="-742950" algn="l">
              <a:buAutoNum type="arabicPeriod"/>
            </a:pPr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expectations of future spending</a:t>
            </a:r>
          </a:p>
          <a:p>
            <a:pPr marL="742950" indent="-742950" algn="l">
              <a:buAutoNum type="arabicPeriod"/>
            </a:pPr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Exogenous variation in platinum cards</a:t>
            </a:r>
          </a:p>
          <a:p>
            <a:pPr marL="742950" indent="-742950" algn="l">
              <a:buAutoNum type="arabicPeriod"/>
            </a:pPr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ex-ante expectations vs. realized spending</a:t>
            </a:r>
          </a:p>
          <a:p>
            <a:pPr algn="l"/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this paper does:</a:t>
            </a:r>
          </a:p>
          <a:p>
            <a:pPr marL="742950" indent="-742950" algn="l">
              <a:buAutoNum type="arabicPeriod"/>
            </a:pPr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causal effects on historical spending</a:t>
            </a:r>
          </a:p>
          <a:p>
            <a:pPr marL="742950" indent="-742950" algn="l">
              <a:buAutoNum type="arabicPeriod"/>
            </a:pPr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understanding of realized spending in last 6 months.</a:t>
            </a:r>
          </a:p>
        </p:txBody>
      </p:sp>
    </p:spTree>
    <p:extLst>
      <p:ext uri="{BB962C8B-B14F-4D97-AF65-F5344CB8AC3E}">
        <p14:creationId xmlns:p14="http://schemas.microsoft.com/office/powerpoint/2010/main" val="27325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EF6168-1DB2-A747-7CCC-52E8880A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45AF-2975-B288-49B3-6F04EAF47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447800"/>
            <a:ext cx="18288000" cy="1946273"/>
          </a:xfrm>
        </p:spPr>
        <p:txBody>
          <a:bodyPr/>
          <a:lstStyle/>
          <a:p>
            <a:r>
              <a:rPr lang="en-US" dirty="0"/>
              <a:t>#2 Mistakes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7CDFE-DA5F-3311-ABCD-63AD07C93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394072"/>
            <a:ext cx="21336000" cy="9255128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“Credit card rewards can lure naive consumers into booking reward-earning goods and services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overlooking the complementary purchases that will be necessary in the future.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Consumers less aware of total spending is </a:t>
            </a:r>
            <a:r>
              <a:rPr lang="en-US" sz="4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consumers not planning their non-rewards expenditure &amp; overconsuming. </a:t>
            </a: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in last 6 months is a mix of consumers (average 282 days with current card):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6+ months platinum (ii) &lt;6 months platinum (iii) Never platinum.</a:t>
            </a: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learning? Story most convincing if persistent errors among experienced users.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➡️ Heterogeneity has noisy nulls for       </a:t>
            </a:r>
            <a:r>
              <a:rPr lang="en-US" sz="4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longer-holding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&amp; </a:t>
            </a:r>
            <a:r>
              <a:rPr lang="en-US" sz="4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older users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Total spend under-reporting: 	$82 (</a:t>
            </a:r>
            <a:r>
              <a:rPr lang="en-US" sz="4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s.e.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$51)  &amp; $60 (</a:t>
            </a:r>
            <a:r>
              <a:rPr lang="en-US" sz="4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s.e.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$44)</a:t>
            </a:r>
          </a:p>
        </p:txBody>
      </p:sp>
    </p:spTree>
    <p:extLst>
      <p:ext uri="{BB962C8B-B14F-4D97-AF65-F5344CB8AC3E}">
        <p14:creationId xmlns:p14="http://schemas.microsoft.com/office/powerpoint/2010/main" val="91730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0B7BE5-A415-B2F7-94A2-CD097B47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66F1-7626-AB61-E3A1-BBB01C808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447800"/>
            <a:ext cx="18288000" cy="1946273"/>
          </a:xfrm>
        </p:spPr>
        <p:txBody>
          <a:bodyPr/>
          <a:lstStyle/>
          <a:p>
            <a:r>
              <a:rPr lang="en-US" dirty="0"/>
              <a:t>#3 Implications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216AC-B9AE-0655-6A61-13FF3B23B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394072"/>
            <a:ext cx="21336000" cy="8569328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shows welfare loss. What about counterfactual policies?</a:t>
            </a: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>
              <a:buFontTx/>
              <a:buChar char="-"/>
            </a:pP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Interchange caps of different levels (5.25% baseline)</a:t>
            </a:r>
          </a:p>
          <a:p>
            <a:pPr marL="571500" indent="-571500" algn="l">
              <a:buFontTx/>
              <a:buChar char="-"/>
            </a:pP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Simplify reward structure (e.g., can only be X% of any spending)</a:t>
            </a:r>
          </a:p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   (Iberti, Kulkarni, &amp;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Truffa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23; US regulations do </a:t>
            </a: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standardize reward disclosures)</a:t>
            </a: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generally, complexity in credit card rewards appears productive area to explore:</a:t>
            </a:r>
          </a:p>
          <a:p>
            <a:pPr marL="571500" indent="-571500" algn="l">
              <a:buFontTx/>
              <a:buChar char="-"/>
            </a:pP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difficult to choose optimal credit card to maximize benefits?</a:t>
            </a:r>
          </a:p>
          <a:p>
            <a:pPr marL="571500" indent="-571500" algn="l">
              <a:buFontTx/>
              <a:buChar char="-"/>
            </a:pP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credit cards held, how do cardholders allocate spending to maximize benefits?</a:t>
            </a:r>
          </a:p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Many reward categories. Different units: points, miles, cash. Annual fees. Bundled benefits.</a:t>
            </a:r>
          </a:p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(Agarwal,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Chomsisengphet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Liu 10 JMCB; Agarwal,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Chomsisengphet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Liu,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Souleles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15 RCFS; Stango &amp;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Zinman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16 RFS; Ru &amp;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Schoar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23; CFPB 24)</a:t>
            </a:r>
          </a:p>
        </p:txBody>
      </p:sp>
    </p:spTree>
    <p:extLst>
      <p:ext uri="{BB962C8B-B14F-4D97-AF65-F5344CB8AC3E}">
        <p14:creationId xmlns:p14="http://schemas.microsoft.com/office/powerpoint/2010/main" val="263322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23D7-5630-A142-D568-48EB146B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EAE27B-774F-B2A3-44D4-2F3775267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24419859" cy="13716000"/>
          </a:xfrm>
        </p:spPr>
        <p:txBody>
          <a:bodyPr>
            <a:normAutofit/>
          </a:bodyPr>
          <a:lstStyle/>
          <a:p>
            <a:endParaRPr lang="en-US" sz="12000" b="1" dirty="0"/>
          </a:p>
          <a:p>
            <a:r>
              <a:rPr lang="en-US" sz="12000" b="1" dirty="0">
                <a:solidFill>
                  <a:schemeClr val="tx1"/>
                </a:solidFill>
              </a:rPr>
              <a:t>Thanks!</a:t>
            </a:r>
          </a:p>
          <a:p>
            <a:endParaRPr lang="en-US" sz="12000" b="1" dirty="0"/>
          </a:p>
          <a:p>
            <a:r>
              <a:rPr lang="en-US" sz="12000" b="1" dirty="0">
                <a:hlinkClick r:id="rId2"/>
              </a:rPr>
              <a:t>www.benedictgk.com</a:t>
            </a:r>
            <a:endParaRPr lang="en-US" sz="12000" b="1" dirty="0"/>
          </a:p>
          <a:p>
            <a:endParaRPr lang="en-US" sz="12000" b="1" dirty="0"/>
          </a:p>
          <a:p>
            <a:r>
              <a:rPr lang="en-US" sz="12000" b="1" dirty="0">
                <a:hlinkClick r:id="rId3"/>
              </a:rPr>
              <a:t>benedictgk@rice.edu</a:t>
            </a:r>
            <a:r>
              <a:rPr lang="en-US" sz="12000" b="1" dirty="0"/>
              <a:t> </a:t>
            </a:r>
          </a:p>
          <a:p>
            <a:endParaRPr lang="en-US" sz="12000" b="1" dirty="0"/>
          </a:p>
        </p:txBody>
      </p:sp>
    </p:spTree>
    <p:extLst>
      <p:ext uri="{BB962C8B-B14F-4D97-AF65-F5344CB8AC3E}">
        <p14:creationId xmlns:p14="http://schemas.microsoft.com/office/powerpoint/2010/main" val="4121199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97B871-4AFF-D1C7-944A-C4160BAF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78AE-25D6-A400-DEAA-9980CC07A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762000"/>
            <a:ext cx="18288000" cy="1946273"/>
          </a:xfrm>
        </p:spPr>
        <p:txBody>
          <a:bodyPr/>
          <a:lstStyle/>
          <a:p>
            <a:r>
              <a:rPr lang="en-US" dirty="0"/>
              <a:t>Other Feedback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7CA46-1866-200B-2152-3AEF9B1A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2605613"/>
            <a:ext cx="18288000" cy="9331328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survey response rate and compare representativeness of survey sample to population data.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Chinese credit cards do consumers normally have?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baseline means in text / tables to interpret estimates.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drafting clearer on timing of survey relative to timing of platinum card eligibility and administrative outcomes.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power of RDD by doing local estimation with full sample of data (not just survey respondents) for outcomes / heterogeneity.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estimation for key outcome of total spending under reporting appears under-powered in Table A1 column 4. Noisy null 67 (36).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effects persistent? Look at dynamics of outcomes over different time horizons.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pre-period outcomes before platinum card opening as falsification tests – e.g.,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Gathergood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Guttman-Kenney, Hunt 19 RFS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total assets over time as an outcome to show not being manipulated over time. Unclear the point-in-time currently used.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rewards affect loyalty? This would be a natural way to increase profits. My JMP shows large variation in credit card tenure. 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magnitudes of your causal estimates of spending to Gelman &amp;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Roussanov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Agarwal et al. papers.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think you may need to make an assumption that the mis-estimation you measure is persistent and affects future choices.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precision by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winsorizing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variables (e.g., 99</a:t>
            </a:r>
            <a:r>
              <a:rPr lang="en-US" sz="2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non-zero value of spending)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CDFs of responses and spending. Account for rounding behavior by aggregating into coarse bins. </a:t>
            </a:r>
            <a:r>
              <a:rPr lang="en-US" sz="2400" dirty="0">
                <a:effectLst/>
                <a:latin typeface="Helvetica" pitchFamily="2" charset="0"/>
              </a:rPr>
              <a:t>(see Sakaguchi, </a:t>
            </a:r>
            <a:r>
              <a:rPr lang="en-US" sz="2400" dirty="0" err="1">
                <a:effectLst/>
                <a:latin typeface="Helvetica" pitchFamily="2" charset="0"/>
              </a:rPr>
              <a:t>Gathergood</a:t>
            </a:r>
            <a:r>
              <a:rPr lang="en-US" sz="2400" dirty="0">
                <a:effectLst/>
                <a:latin typeface="Helvetica" pitchFamily="2" charset="0"/>
              </a:rPr>
              <a:t>, &amp; Stewart 24; Herzog and Bartels 24)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“It is interesting to note that if the bank imposes rewards on the</a:t>
            </a: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products that do not come with complements (when m = 0), then naive consumers would not</a:t>
            </a: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suffer from excess and unexpected spending.” </a:t>
            </a:r>
            <a:r>
              <a:rPr lang="en-US" sz="24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&lt;- can’t you test this in data by using variation in how much complementary there is between spending categories? Would predict stronger responses for categories closer to the reward category. Seasonal rewards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sounds like</a:t>
            </a:r>
            <a:r>
              <a:rPr lang="en-US" sz="24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excellent variation you could exploit.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original Chinese version of survey in appendix.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IRB?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9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FC353F-7B15-EDCF-1663-9AE77596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design validity check&#10;&#10;Description automatically generated">
            <a:extLst>
              <a:ext uri="{FF2B5EF4-FFF2-40B4-BE49-F238E27FC236}">
                <a16:creationId xmlns:a16="http://schemas.microsoft.com/office/drawing/2014/main" id="{7EFE40B7-3E85-E208-8442-77DFAEB38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871" y="749425"/>
            <a:ext cx="20490255" cy="9642473"/>
          </a:xfrm>
          <a:prstGeom prst="rect">
            <a:avLst/>
          </a:prstGeom>
        </p:spPr>
      </p:pic>
      <p:pic>
        <p:nvPicPr>
          <p:cNvPr id="4" name="Picture 3" descr="A close-up of a list of rewards&#10;&#10;Description automatically generated">
            <a:extLst>
              <a:ext uri="{FF2B5EF4-FFF2-40B4-BE49-F238E27FC236}">
                <a16:creationId xmlns:a16="http://schemas.microsoft.com/office/drawing/2014/main" id="{6059073C-9193-80A2-4E64-7F7A84D3C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79" y="9906000"/>
            <a:ext cx="14770637" cy="2514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ADEF1F-55CF-4096-9AE1-D05AAB63A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79" y="12362495"/>
            <a:ext cx="13938521" cy="120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35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00F5E8-B176-09C7-F471-A1DF5690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types of assets&#10;&#10;Description automatically generated with medium confidence">
            <a:extLst>
              <a:ext uri="{FF2B5EF4-FFF2-40B4-BE49-F238E27FC236}">
                <a16:creationId xmlns:a16="http://schemas.microsoft.com/office/drawing/2014/main" id="{1D18339D-11AF-8D84-49B2-92DCB4943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72561"/>
            <a:ext cx="16306800" cy="1317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1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47D79B-51B2-6437-97D8-7C24E82E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ble with numbers and text&#10;&#10;Description automatically generated">
            <a:extLst>
              <a:ext uri="{FF2B5EF4-FFF2-40B4-BE49-F238E27FC236}">
                <a16:creationId xmlns:a16="http://schemas.microsoft.com/office/drawing/2014/main" id="{CED4511E-4C70-5F3A-947A-2BE4612DA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963" y="1070440"/>
            <a:ext cx="18692073" cy="115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54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</TotalTime>
  <Words>1197</Words>
  <Application>Microsoft Macintosh PowerPoint</Application>
  <PresentationFormat>Custom</PresentationFormat>
  <Paragraphs>115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Narrow</vt:lpstr>
      <vt:lpstr>Calibri</vt:lpstr>
      <vt:lpstr>Helvetica</vt:lpstr>
      <vt:lpstr>Office Theme</vt:lpstr>
      <vt:lpstr>“Rewards and Consumption in the Credit Card Market” by Tianyu Han</vt:lpstr>
      <vt:lpstr>Credit Card Context</vt:lpstr>
      <vt:lpstr>Data and Methods</vt:lpstr>
      <vt:lpstr>Han’s Hypothesis</vt:lpstr>
      <vt:lpstr>Big Picture</vt:lpstr>
      <vt:lpstr>Linking Reward Effects to Literature</vt:lpstr>
      <vt:lpstr>#1: Platinum vs. Gold Rewards</vt:lpstr>
      <vt:lpstr>#2 Mistakes</vt:lpstr>
      <vt:lpstr>#2 Mistakes</vt:lpstr>
      <vt:lpstr>#3 Implications</vt:lpstr>
      <vt:lpstr>PowerPoint Presentation</vt:lpstr>
      <vt:lpstr>Other Feedback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Palmer</dc:creator>
  <cp:lastModifiedBy>Benedict Guttman-Kenney</cp:lastModifiedBy>
  <cp:revision>491</cp:revision>
  <dcterms:created xsi:type="dcterms:W3CDTF">2016-10-21T21:17:17Z</dcterms:created>
  <dcterms:modified xsi:type="dcterms:W3CDTF">2025-01-03T15:16:41Z</dcterms:modified>
</cp:coreProperties>
</file>