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73" r:id="rId4"/>
    <p:sldId id="260" r:id="rId5"/>
    <p:sldId id="269" r:id="rId6"/>
    <p:sldId id="270" r:id="rId7"/>
    <p:sldId id="268" r:id="rId8"/>
    <p:sldId id="272" r:id="rId9"/>
    <p:sldId id="271" r:id="rId10"/>
    <p:sldId id="262" r:id="rId11"/>
    <p:sldId id="275" r:id="rId12"/>
    <p:sldId id="276" r:id="rId13"/>
    <p:sldId id="277" r:id="rId14"/>
    <p:sldId id="261" r:id="rId15"/>
    <p:sldId id="263" r:id="rId16"/>
    <p:sldId id="274" r:id="rId17"/>
    <p:sldId id="266"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67A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45"/>
    <p:restoredTop sz="94699"/>
  </p:normalViewPr>
  <p:slideViewPr>
    <p:cSldViewPr snapToGrid="0" showGuides="1">
      <p:cViewPr varScale="1">
        <p:scale>
          <a:sx n="55" d="100"/>
          <a:sy n="55" d="100"/>
        </p:scale>
        <p:origin x="200" y="14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377F8B-59AE-B14B-B98A-1A49968C0844}" type="datetimeFigureOut">
              <a:rPr lang="en-US" smtClean="0"/>
              <a:t>12/13/25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BE4EDF-5641-EB4D-9EF5-40BC8983DB24}" type="slidenum">
              <a:rPr lang="en-US" smtClean="0"/>
              <a:t>‹#›</a:t>
            </a:fld>
            <a:endParaRPr lang="en-US"/>
          </a:p>
        </p:txBody>
      </p:sp>
    </p:spTree>
    <p:extLst>
      <p:ext uri="{BB962C8B-B14F-4D97-AF65-F5344CB8AC3E}">
        <p14:creationId xmlns:p14="http://schemas.microsoft.com/office/powerpoint/2010/main" val="301881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BE4EDF-5641-EB4D-9EF5-40BC8983DB24}" type="slidenum">
              <a:rPr lang="en-US" smtClean="0"/>
              <a:t>1</a:t>
            </a:fld>
            <a:endParaRPr lang="en-US"/>
          </a:p>
        </p:txBody>
      </p:sp>
    </p:spTree>
    <p:extLst>
      <p:ext uri="{BB962C8B-B14F-4D97-AF65-F5344CB8AC3E}">
        <p14:creationId xmlns:p14="http://schemas.microsoft.com/office/powerpoint/2010/main" val="1798049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BE4EDF-5641-EB4D-9EF5-40BC8983DB24}" type="slidenum">
              <a:rPr lang="en-US" smtClean="0"/>
              <a:t>17</a:t>
            </a:fld>
            <a:endParaRPr lang="en-US"/>
          </a:p>
        </p:txBody>
      </p:sp>
    </p:spTree>
    <p:extLst>
      <p:ext uri="{BB962C8B-B14F-4D97-AF65-F5344CB8AC3E}">
        <p14:creationId xmlns:p14="http://schemas.microsoft.com/office/powerpoint/2010/main" val="3201364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099F9-D01C-3013-400A-51BED71473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B0D1B1-B295-CF55-5CC3-ACD69D4650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7CE671-014C-58A5-B77F-485389C9A456}"/>
              </a:ext>
            </a:extLst>
          </p:cNvPr>
          <p:cNvSpPr>
            <a:spLocks noGrp="1"/>
          </p:cNvSpPr>
          <p:nvPr>
            <p:ph type="dt" sz="half" idx="10"/>
          </p:nvPr>
        </p:nvSpPr>
        <p:spPr/>
        <p:txBody>
          <a:bodyPr/>
          <a:lstStyle/>
          <a:p>
            <a:fld id="{5B2F7B80-5592-494B-8609-3FCF308FD325}" type="datetimeFigureOut">
              <a:rPr lang="en-US" smtClean="0"/>
              <a:t>12/13/25</a:t>
            </a:fld>
            <a:endParaRPr lang="en-US"/>
          </a:p>
        </p:txBody>
      </p:sp>
      <p:sp>
        <p:nvSpPr>
          <p:cNvPr id="5" name="Footer Placeholder 4">
            <a:extLst>
              <a:ext uri="{FF2B5EF4-FFF2-40B4-BE49-F238E27FC236}">
                <a16:creationId xmlns:a16="http://schemas.microsoft.com/office/drawing/2014/main" id="{37F20529-C11D-1239-2FA6-CBBC5EF2AD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549D9E-CF69-01CE-6D51-40DD90C2668A}"/>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1735323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EAD98-8347-8E6A-5254-8C731D6EE7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B14B5C-1BE9-9709-4485-E1BC4E719F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202455-396B-4524-2B9B-4F1C83DAB431}"/>
              </a:ext>
            </a:extLst>
          </p:cNvPr>
          <p:cNvSpPr>
            <a:spLocks noGrp="1"/>
          </p:cNvSpPr>
          <p:nvPr>
            <p:ph type="dt" sz="half" idx="10"/>
          </p:nvPr>
        </p:nvSpPr>
        <p:spPr/>
        <p:txBody>
          <a:bodyPr/>
          <a:lstStyle/>
          <a:p>
            <a:fld id="{5B2F7B80-5592-494B-8609-3FCF308FD325}" type="datetimeFigureOut">
              <a:rPr lang="en-US" smtClean="0"/>
              <a:t>12/13/25</a:t>
            </a:fld>
            <a:endParaRPr lang="en-US"/>
          </a:p>
        </p:txBody>
      </p:sp>
      <p:sp>
        <p:nvSpPr>
          <p:cNvPr id="5" name="Footer Placeholder 4">
            <a:extLst>
              <a:ext uri="{FF2B5EF4-FFF2-40B4-BE49-F238E27FC236}">
                <a16:creationId xmlns:a16="http://schemas.microsoft.com/office/drawing/2014/main" id="{247D5B6E-032F-8FCF-39CA-1FAD13B2E1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6FC09F-FF71-C4EC-133B-448ABE1C9AF8}"/>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2572299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36209-771E-6C81-AF38-9E8B37CB63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5C72E4-D9A8-1C02-E42B-8E7D8EE526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A56109-7C38-24F7-443F-D7188C5527E4}"/>
              </a:ext>
            </a:extLst>
          </p:cNvPr>
          <p:cNvSpPr>
            <a:spLocks noGrp="1"/>
          </p:cNvSpPr>
          <p:nvPr>
            <p:ph type="dt" sz="half" idx="10"/>
          </p:nvPr>
        </p:nvSpPr>
        <p:spPr/>
        <p:txBody>
          <a:bodyPr/>
          <a:lstStyle/>
          <a:p>
            <a:fld id="{5B2F7B80-5592-494B-8609-3FCF308FD325}" type="datetimeFigureOut">
              <a:rPr lang="en-US" smtClean="0"/>
              <a:t>12/13/25</a:t>
            </a:fld>
            <a:endParaRPr lang="en-US"/>
          </a:p>
        </p:txBody>
      </p:sp>
      <p:sp>
        <p:nvSpPr>
          <p:cNvPr id="5" name="Footer Placeholder 4">
            <a:extLst>
              <a:ext uri="{FF2B5EF4-FFF2-40B4-BE49-F238E27FC236}">
                <a16:creationId xmlns:a16="http://schemas.microsoft.com/office/drawing/2014/main" id="{4F17CCB9-B911-6E34-3B93-C0F18EC615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9CE99F-44C6-D7B3-F5B4-399D35E20B50}"/>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3882331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50264-E574-967C-6AA1-998A2A668A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2E0AB2-EB8A-5172-6945-1E1A2E5DB1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0C4C97-250C-19AE-DDFE-DDB6289883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3415F5-16C5-8BE8-6A5A-C887E887A4A7}"/>
              </a:ext>
            </a:extLst>
          </p:cNvPr>
          <p:cNvSpPr>
            <a:spLocks noGrp="1"/>
          </p:cNvSpPr>
          <p:nvPr>
            <p:ph type="dt" sz="half" idx="10"/>
          </p:nvPr>
        </p:nvSpPr>
        <p:spPr/>
        <p:txBody>
          <a:bodyPr/>
          <a:lstStyle/>
          <a:p>
            <a:fld id="{5B2F7B80-5592-494B-8609-3FCF308FD325}" type="datetimeFigureOut">
              <a:rPr lang="en-US" smtClean="0"/>
              <a:t>12/13/25</a:t>
            </a:fld>
            <a:endParaRPr lang="en-US"/>
          </a:p>
        </p:txBody>
      </p:sp>
      <p:sp>
        <p:nvSpPr>
          <p:cNvPr id="6" name="Footer Placeholder 5">
            <a:extLst>
              <a:ext uri="{FF2B5EF4-FFF2-40B4-BE49-F238E27FC236}">
                <a16:creationId xmlns:a16="http://schemas.microsoft.com/office/drawing/2014/main" id="{6C0ED989-1888-E819-FF52-939E26E2F9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53601D-1A92-FCC5-3BAA-154C351FF59F}"/>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2375905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3E85C-F163-5CC3-4030-338BC7015D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D49E19-437D-D8D0-478B-7B9D1D9048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CD4801-A40C-DA32-A75A-847B83AF13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18A162-86ED-0291-7E16-788741EFB2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5F05F2-970D-172D-F617-4F841D2E71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2E4C9A-C349-CFB6-5D1C-4FA10C56945F}"/>
              </a:ext>
            </a:extLst>
          </p:cNvPr>
          <p:cNvSpPr>
            <a:spLocks noGrp="1"/>
          </p:cNvSpPr>
          <p:nvPr>
            <p:ph type="dt" sz="half" idx="10"/>
          </p:nvPr>
        </p:nvSpPr>
        <p:spPr/>
        <p:txBody>
          <a:bodyPr/>
          <a:lstStyle/>
          <a:p>
            <a:fld id="{5B2F7B80-5592-494B-8609-3FCF308FD325}" type="datetimeFigureOut">
              <a:rPr lang="en-US" smtClean="0"/>
              <a:t>12/13/25</a:t>
            </a:fld>
            <a:endParaRPr lang="en-US"/>
          </a:p>
        </p:txBody>
      </p:sp>
      <p:sp>
        <p:nvSpPr>
          <p:cNvPr id="8" name="Footer Placeholder 7">
            <a:extLst>
              <a:ext uri="{FF2B5EF4-FFF2-40B4-BE49-F238E27FC236}">
                <a16:creationId xmlns:a16="http://schemas.microsoft.com/office/drawing/2014/main" id="{E8C546DE-8102-4FD5-143D-2BA088B9ED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6B807D-9D8E-ECF8-444C-FF983276F0C5}"/>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4040545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BED8C-200B-6DA4-D2B0-9C8CDDDB96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CF3564-A0DF-BE0A-37D2-5B60FE3B38D6}"/>
              </a:ext>
            </a:extLst>
          </p:cNvPr>
          <p:cNvSpPr>
            <a:spLocks noGrp="1"/>
          </p:cNvSpPr>
          <p:nvPr>
            <p:ph type="dt" sz="half" idx="10"/>
          </p:nvPr>
        </p:nvSpPr>
        <p:spPr/>
        <p:txBody>
          <a:bodyPr/>
          <a:lstStyle/>
          <a:p>
            <a:fld id="{5B2F7B80-5592-494B-8609-3FCF308FD325}" type="datetimeFigureOut">
              <a:rPr lang="en-US" smtClean="0"/>
              <a:t>12/13/25</a:t>
            </a:fld>
            <a:endParaRPr lang="en-US"/>
          </a:p>
        </p:txBody>
      </p:sp>
      <p:sp>
        <p:nvSpPr>
          <p:cNvPr id="4" name="Footer Placeholder 3">
            <a:extLst>
              <a:ext uri="{FF2B5EF4-FFF2-40B4-BE49-F238E27FC236}">
                <a16:creationId xmlns:a16="http://schemas.microsoft.com/office/drawing/2014/main" id="{FE309875-C16C-3AE8-B03F-1887E9FB51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A523449-20DC-C657-1376-B4FC2B0FC965}"/>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3887806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4BD70-CEBC-699D-AB48-D6FC51BC8626}"/>
              </a:ext>
            </a:extLst>
          </p:cNvPr>
          <p:cNvSpPr>
            <a:spLocks noGrp="1"/>
          </p:cNvSpPr>
          <p:nvPr>
            <p:ph type="dt" sz="half" idx="10"/>
          </p:nvPr>
        </p:nvSpPr>
        <p:spPr/>
        <p:txBody>
          <a:bodyPr/>
          <a:lstStyle/>
          <a:p>
            <a:fld id="{5B2F7B80-5592-494B-8609-3FCF308FD325}" type="datetimeFigureOut">
              <a:rPr lang="en-US" smtClean="0"/>
              <a:t>12/13/25</a:t>
            </a:fld>
            <a:endParaRPr lang="en-US"/>
          </a:p>
        </p:txBody>
      </p:sp>
      <p:sp>
        <p:nvSpPr>
          <p:cNvPr id="3" name="Footer Placeholder 2">
            <a:extLst>
              <a:ext uri="{FF2B5EF4-FFF2-40B4-BE49-F238E27FC236}">
                <a16:creationId xmlns:a16="http://schemas.microsoft.com/office/drawing/2014/main" id="{46DD86DC-98D4-1B21-C0C8-493DFD73CC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02DA16-2384-DE94-BBB1-97ADE8A8FAD8}"/>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288160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98C0B-8714-3A62-2CC2-BAE80EA1FE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FB5E60-698E-E673-7FE2-F72120A220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271B23-BD76-EA2B-1B18-CA6E6D4128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85B908-93F0-9D12-87BA-046616AB5C88}"/>
              </a:ext>
            </a:extLst>
          </p:cNvPr>
          <p:cNvSpPr>
            <a:spLocks noGrp="1"/>
          </p:cNvSpPr>
          <p:nvPr>
            <p:ph type="dt" sz="half" idx="10"/>
          </p:nvPr>
        </p:nvSpPr>
        <p:spPr/>
        <p:txBody>
          <a:bodyPr/>
          <a:lstStyle/>
          <a:p>
            <a:fld id="{5B2F7B80-5592-494B-8609-3FCF308FD325}" type="datetimeFigureOut">
              <a:rPr lang="en-US" smtClean="0"/>
              <a:t>12/13/25</a:t>
            </a:fld>
            <a:endParaRPr lang="en-US"/>
          </a:p>
        </p:txBody>
      </p:sp>
      <p:sp>
        <p:nvSpPr>
          <p:cNvPr id="6" name="Footer Placeholder 5">
            <a:extLst>
              <a:ext uri="{FF2B5EF4-FFF2-40B4-BE49-F238E27FC236}">
                <a16:creationId xmlns:a16="http://schemas.microsoft.com/office/drawing/2014/main" id="{559D122A-FAA8-D2F2-D412-CB19E35A4D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350C7D-6D6E-51A4-C249-AB6D7B5A3E14}"/>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3493726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B4BD-9E72-49A6-00C0-3E46602507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2837C49-6D4D-6DAF-7888-2ED4FD83A1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C44E17-70DE-F3AE-ED83-2CB9728DD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C73271-8285-39EF-B5B4-CC2B6AA9562A}"/>
              </a:ext>
            </a:extLst>
          </p:cNvPr>
          <p:cNvSpPr>
            <a:spLocks noGrp="1"/>
          </p:cNvSpPr>
          <p:nvPr>
            <p:ph type="dt" sz="half" idx="10"/>
          </p:nvPr>
        </p:nvSpPr>
        <p:spPr/>
        <p:txBody>
          <a:bodyPr/>
          <a:lstStyle/>
          <a:p>
            <a:fld id="{5B2F7B80-5592-494B-8609-3FCF308FD325}" type="datetimeFigureOut">
              <a:rPr lang="en-US" smtClean="0"/>
              <a:t>12/13/25</a:t>
            </a:fld>
            <a:endParaRPr lang="en-US"/>
          </a:p>
        </p:txBody>
      </p:sp>
      <p:sp>
        <p:nvSpPr>
          <p:cNvPr id="6" name="Footer Placeholder 5">
            <a:extLst>
              <a:ext uri="{FF2B5EF4-FFF2-40B4-BE49-F238E27FC236}">
                <a16:creationId xmlns:a16="http://schemas.microsoft.com/office/drawing/2014/main" id="{07605A4D-EAFA-986D-0691-FF21CC71C1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80B701-15E5-7689-F6B7-A88C3FB2CF1A}"/>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162336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A1525-6904-D81B-0B89-D7B2D0CFC7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F6857F-B6C0-E67B-0CCF-E1F6F755DD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A30CB-FAD4-33D9-08B0-E28E5F506D71}"/>
              </a:ext>
            </a:extLst>
          </p:cNvPr>
          <p:cNvSpPr>
            <a:spLocks noGrp="1"/>
          </p:cNvSpPr>
          <p:nvPr>
            <p:ph type="dt" sz="half" idx="10"/>
          </p:nvPr>
        </p:nvSpPr>
        <p:spPr/>
        <p:txBody>
          <a:bodyPr/>
          <a:lstStyle/>
          <a:p>
            <a:fld id="{5B2F7B80-5592-494B-8609-3FCF308FD325}" type="datetimeFigureOut">
              <a:rPr lang="en-US" smtClean="0"/>
              <a:t>12/13/25</a:t>
            </a:fld>
            <a:endParaRPr lang="en-US"/>
          </a:p>
        </p:txBody>
      </p:sp>
      <p:sp>
        <p:nvSpPr>
          <p:cNvPr id="5" name="Footer Placeholder 4">
            <a:extLst>
              <a:ext uri="{FF2B5EF4-FFF2-40B4-BE49-F238E27FC236}">
                <a16:creationId xmlns:a16="http://schemas.microsoft.com/office/drawing/2014/main" id="{8B6B9BE7-0918-516F-B8C3-5BFDEC3387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56C8F1-B5A7-E110-24B5-8679E60B07F7}"/>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2231499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3FAF8C-76FE-0C3B-29FA-EB5F035508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00931B-BC7E-AC3F-CB36-3D639233DA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EBEC40-298C-2F69-D91C-DE8BB20A0163}"/>
              </a:ext>
            </a:extLst>
          </p:cNvPr>
          <p:cNvSpPr>
            <a:spLocks noGrp="1"/>
          </p:cNvSpPr>
          <p:nvPr>
            <p:ph type="dt" sz="half" idx="10"/>
          </p:nvPr>
        </p:nvSpPr>
        <p:spPr/>
        <p:txBody>
          <a:bodyPr/>
          <a:lstStyle/>
          <a:p>
            <a:fld id="{5B2F7B80-5592-494B-8609-3FCF308FD325}" type="datetimeFigureOut">
              <a:rPr lang="en-US" smtClean="0"/>
              <a:t>12/13/25</a:t>
            </a:fld>
            <a:endParaRPr lang="en-US"/>
          </a:p>
        </p:txBody>
      </p:sp>
      <p:sp>
        <p:nvSpPr>
          <p:cNvPr id="5" name="Footer Placeholder 4">
            <a:extLst>
              <a:ext uri="{FF2B5EF4-FFF2-40B4-BE49-F238E27FC236}">
                <a16:creationId xmlns:a16="http://schemas.microsoft.com/office/drawing/2014/main" id="{BCF18455-82C1-FECA-5367-6722C836F9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C0FA75-1DD0-9E37-16BD-8C468CE4AD0D}"/>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628703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4C6B88-CB2F-3200-739E-8B74881DDB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25B67F-75B5-165C-94BC-78417EF891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52182F-E3B9-0943-6F67-4678AF47BC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2F7B80-5592-494B-8609-3FCF308FD325}" type="datetimeFigureOut">
              <a:rPr lang="en-US" smtClean="0"/>
              <a:t>12/13/25</a:t>
            </a:fld>
            <a:endParaRPr lang="en-US"/>
          </a:p>
        </p:txBody>
      </p:sp>
      <p:sp>
        <p:nvSpPr>
          <p:cNvPr id="5" name="Footer Placeholder 4">
            <a:extLst>
              <a:ext uri="{FF2B5EF4-FFF2-40B4-BE49-F238E27FC236}">
                <a16:creationId xmlns:a16="http://schemas.microsoft.com/office/drawing/2014/main" id="{65211A8F-45FF-60F3-04E0-169CC27A9A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909CDC-5B83-7A55-FB52-9150D0888A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3F5638-16F2-F741-A991-238AAF58F989}" type="slidenum">
              <a:rPr lang="en-US" smtClean="0"/>
              <a:t>‹#›</a:t>
            </a:fld>
            <a:endParaRPr lang="en-US"/>
          </a:p>
        </p:txBody>
      </p:sp>
    </p:spTree>
    <p:extLst>
      <p:ext uri="{BB962C8B-B14F-4D97-AF65-F5344CB8AC3E}">
        <p14:creationId xmlns:p14="http://schemas.microsoft.com/office/powerpoint/2010/main" val="747399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hgmn.github.io/rea/"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67A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F6728-E1EE-9E9B-6461-ABFA23930924}"/>
              </a:ext>
            </a:extLst>
          </p:cNvPr>
          <p:cNvSpPr>
            <a:spLocks noGrp="1"/>
          </p:cNvSpPr>
          <p:nvPr>
            <p:ph type="ctrTitle"/>
          </p:nvPr>
        </p:nvSpPr>
        <p:spPr>
          <a:xfrm>
            <a:off x="609600" y="697423"/>
            <a:ext cx="10972800" cy="5470902"/>
          </a:xfrm>
        </p:spPr>
        <p:txBody>
          <a:bodyPr>
            <a:normAutofit/>
          </a:bodyPr>
          <a:lstStyle/>
          <a:p>
            <a:pPr algn="l"/>
            <a:r>
              <a:rPr lang="en-US" sz="4000" b="1" dirty="0">
                <a:solidFill>
                  <a:schemeClr val="bg1"/>
                </a:solidFill>
              </a:rPr>
              <a:t>Discussion of “Cultural Anchors and the Heterogenous Impact of Uncertainty on Housing Returns</a:t>
            </a:r>
            <a:r>
              <a:rPr lang="en-US" sz="3600" b="1" dirty="0">
                <a:solidFill>
                  <a:schemeClr val="bg1"/>
                </a:solidFill>
              </a:rPr>
              <a:t>” – Dissanayake, Samarasinghe, Torgler &amp; Wu</a:t>
            </a:r>
            <a:br>
              <a:rPr lang="en-US" sz="4800" b="1" dirty="0">
                <a:solidFill>
                  <a:schemeClr val="bg1"/>
                </a:solidFill>
              </a:rPr>
            </a:br>
            <a:br>
              <a:rPr lang="en-US" sz="4000" b="1" dirty="0">
                <a:solidFill>
                  <a:schemeClr val="bg1"/>
                </a:solidFill>
              </a:rPr>
            </a:br>
            <a:r>
              <a:rPr lang="en-US" sz="4000" b="1" dirty="0">
                <a:solidFill>
                  <a:schemeClr val="bg1"/>
                </a:solidFill>
              </a:rPr>
              <a:t>Benedict Guttman-Kenney</a:t>
            </a:r>
            <a:br>
              <a:rPr lang="en-US" sz="4000" b="1" dirty="0">
                <a:solidFill>
                  <a:schemeClr val="bg1"/>
                </a:solidFill>
              </a:rPr>
            </a:br>
            <a:r>
              <a:rPr lang="en-US" sz="4000" dirty="0">
                <a:solidFill>
                  <a:schemeClr val="bg1"/>
                </a:solidFill>
              </a:rPr>
              <a:t>Rice University</a:t>
            </a:r>
            <a:br>
              <a:rPr lang="en-US" sz="4000" dirty="0">
                <a:solidFill>
                  <a:schemeClr val="bg1"/>
                </a:solidFill>
              </a:rPr>
            </a:br>
            <a:br>
              <a:rPr lang="en-US" sz="4000" dirty="0">
                <a:solidFill>
                  <a:schemeClr val="bg1"/>
                </a:solidFill>
              </a:rPr>
            </a:br>
            <a:r>
              <a:rPr lang="en-US" sz="2800" dirty="0">
                <a:solidFill>
                  <a:schemeClr val="bg1"/>
                </a:solidFill>
              </a:rPr>
              <a:t>14</a:t>
            </a:r>
            <a:r>
              <a:rPr lang="en-US" sz="2800" baseline="30000" dirty="0">
                <a:solidFill>
                  <a:schemeClr val="bg1"/>
                </a:solidFill>
              </a:rPr>
              <a:t>th</a:t>
            </a:r>
            <a:r>
              <a:rPr lang="en-US" sz="2800" dirty="0">
                <a:solidFill>
                  <a:schemeClr val="bg1"/>
                </a:solidFill>
              </a:rPr>
              <a:t> December 2025</a:t>
            </a:r>
            <a:r>
              <a:rPr lang="en-US" sz="4000" dirty="0">
                <a:solidFill>
                  <a:schemeClr val="bg1"/>
                </a:solidFill>
              </a:rPr>
              <a:t> </a:t>
            </a:r>
            <a:endParaRPr lang="en-US" sz="4800" dirty="0">
              <a:solidFill>
                <a:schemeClr val="bg1"/>
              </a:solidFill>
            </a:endParaRPr>
          </a:p>
        </p:txBody>
      </p:sp>
      <p:pic>
        <p:nvPicPr>
          <p:cNvPr id="9" name="Picture 8" descr="A black and white logo&#10;&#10;AI-generated content may be incorrect.">
            <a:extLst>
              <a:ext uri="{FF2B5EF4-FFF2-40B4-BE49-F238E27FC236}">
                <a16:creationId xmlns:a16="http://schemas.microsoft.com/office/drawing/2014/main" id="{12A791D7-715C-8263-1D9F-6306622D6C1C}"/>
              </a:ext>
            </a:extLst>
          </p:cNvPr>
          <p:cNvPicPr>
            <a:picLocks noChangeAspect="1"/>
          </p:cNvPicPr>
          <p:nvPr/>
        </p:nvPicPr>
        <p:blipFill>
          <a:blip r:embed="rId3"/>
          <a:stretch>
            <a:fillRect/>
          </a:stretch>
        </p:blipFill>
        <p:spPr>
          <a:xfrm>
            <a:off x="7358175" y="4774330"/>
            <a:ext cx="4224227" cy="1393995"/>
          </a:xfrm>
          <a:prstGeom prst="rect">
            <a:avLst/>
          </a:prstGeom>
        </p:spPr>
      </p:pic>
    </p:spTree>
    <p:extLst>
      <p:ext uri="{BB962C8B-B14F-4D97-AF65-F5344CB8AC3E}">
        <p14:creationId xmlns:p14="http://schemas.microsoft.com/office/powerpoint/2010/main" val="4096960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DF3E1-F17B-1CA3-8316-DF7B79A44BD3}"/>
              </a:ext>
            </a:extLst>
          </p:cNvPr>
          <p:cNvSpPr>
            <a:spLocks noGrp="1"/>
          </p:cNvSpPr>
          <p:nvPr>
            <p:ph type="title"/>
          </p:nvPr>
        </p:nvSpPr>
        <p:spPr/>
        <p:txBody>
          <a:bodyPr/>
          <a:lstStyle/>
          <a:p>
            <a:r>
              <a:rPr lang="en-US" b="1" dirty="0">
                <a:solidFill>
                  <a:srgbClr val="2B67A1"/>
                </a:solidFill>
              </a:rPr>
              <a:t>Paper Summary</a:t>
            </a:r>
          </a:p>
        </p:txBody>
      </p:sp>
      <p:sp>
        <p:nvSpPr>
          <p:cNvPr id="3" name="Content Placeholder 2">
            <a:extLst>
              <a:ext uri="{FF2B5EF4-FFF2-40B4-BE49-F238E27FC236}">
                <a16:creationId xmlns:a16="http://schemas.microsoft.com/office/drawing/2014/main" id="{76FF1195-A70F-AABB-DA5F-A62719A81AFB}"/>
              </a:ext>
            </a:extLst>
          </p:cNvPr>
          <p:cNvSpPr>
            <a:spLocks noGrp="1"/>
          </p:cNvSpPr>
          <p:nvPr>
            <p:ph idx="1"/>
          </p:nvPr>
        </p:nvSpPr>
        <p:spPr>
          <a:xfrm>
            <a:off x="838200" y="1825625"/>
            <a:ext cx="10767646" cy="4351338"/>
          </a:xfrm>
        </p:spPr>
        <p:txBody>
          <a:bodyPr>
            <a:normAutofit/>
          </a:bodyPr>
          <a:lstStyle/>
          <a:p>
            <a:r>
              <a:rPr lang="en-US" dirty="0"/>
              <a:t>Construct cross-country panel data on housing returns, economic uncertainty, economic conditions, &amp; culture</a:t>
            </a:r>
          </a:p>
          <a:p>
            <a:r>
              <a:rPr lang="en-US" dirty="0"/>
              <a:t>Study relationship between </a:t>
            </a:r>
            <a:r>
              <a:rPr lang="en-US" b="1" dirty="0"/>
              <a:t>uncertainty</a:t>
            </a:r>
            <a:r>
              <a:rPr lang="en-US" dirty="0"/>
              <a:t> and </a:t>
            </a:r>
            <a:r>
              <a:rPr lang="en-US" b="1" dirty="0"/>
              <a:t>housing returns </a:t>
            </a:r>
            <a:r>
              <a:rPr lang="en-US" dirty="0"/>
              <a:t>using:</a:t>
            </a:r>
          </a:p>
          <a:p>
            <a:pPr lvl="1"/>
            <a:r>
              <a:rPr lang="en-US" dirty="0"/>
              <a:t>Fixed effects</a:t>
            </a:r>
          </a:p>
          <a:p>
            <a:pPr lvl="1"/>
            <a:r>
              <a:rPr lang="en-US" dirty="0"/>
              <a:t>Instrument Variable: Election timing</a:t>
            </a:r>
          </a:p>
          <a:p>
            <a:pPr lvl="1"/>
            <a:r>
              <a:rPr lang="en-US" dirty="0"/>
              <a:t>Difference-in-difference: Turkish protests in May 2013</a:t>
            </a:r>
          </a:p>
        </p:txBody>
      </p:sp>
    </p:spTree>
    <p:extLst>
      <p:ext uri="{BB962C8B-B14F-4D97-AF65-F5344CB8AC3E}">
        <p14:creationId xmlns:p14="http://schemas.microsoft.com/office/powerpoint/2010/main" val="1379448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952C4-7B03-8E5A-F95D-6291008096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87D3C-638B-1DB1-EBA8-3C28A140DD95}"/>
              </a:ext>
            </a:extLst>
          </p:cNvPr>
          <p:cNvSpPr>
            <a:spLocks noGrp="1"/>
          </p:cNvSpPr>
          <p:nvPr>
            <p:ph type="title"/>
          </p:nvPr>
        </p:nvSpPr>
        <p:spPr/>
        <p:txBody>
          <a:bodyPr/>
          <a:lstStyle/>
          <a:p>
            <a:r>
              <a:rPr lang="en-US" b="1" dirty="0">
                <a:solidFill>
                  <a:srgbClr val="2B67A1"/>
                </a:solidFill>
              </a:rPr>
              <a:t>Paper Summary</a:t>
            </a:r>
          </a:p>
        </p:txBody>
      </p:sp>
      <p:sp>
        <p:nvSpPr>
          <p:cNvPr id="3" name="Content Placeholder 2">
            <a:extLst>
              <a:ext uri="{FF2B5EF4-FFF2-40B4-BE49-F238E27FC236}">
                <a16:creationId xmlns:a16="http://schemas.microsoft.com/office/drawing/2014/main" id="{7953C0F2-2215-F75C-F6B9-B09DAEF0DF6B}"/>
              </a:ext>
            </a:extLst>
          </p:cNvPr>
          <p:cNvSpPr>
            <a:spLocks noGrp="1"/>
          </p:cNvSpPr>
          <p:nvPr>
            <p:ph idx="1"/>
          </p:nvPr>
        </p:nvSpPr>
        <p:spPr>
          <a:xfrm>
            <a:off x="838200" y="1825625"/>
            <a:ext cx="10767646" cy="4351338"/>
          </a:xfrm>
        </p:spPr>
        <p:txBody>
          <a:bodyPr>
            <a:normAutofit fontScale="92500"/>
          </a:bodyPr>
          <a:lstStyle/>
          <a:p>
            <a:r>
              <a:rPr lang="en-US" dirty="0"/>
              <a:t>Construct cross-country panel data on housing returns, economic uncertainty, economic conditions, &amp; culture</a:t>
            </a:r>
          </a:p>
          <a:p>
            <a:r>
              <a:rPr lang="en-US" dirty="0"/>
              <a:t>Study relationship between </a:t>
            </a:r>
            <a:r>
              <a:rPr lang="en-US" b="1" dirty="0"/>
              <a:t>uncertainty</a:t>
            </a:r>
            <a:r>
              <a:rPr lang="en-US" dirty="0"/>
              <a:t> and </a:t>
            </a:r>
            <a:r>
              <a:rPr lang="en-US" b="1" dirty="0"/>
              <a:t>housing returns </a:t>
            </a:r>
            <a:r>
              <a:rPr lang="en-US" dirty="0"/>
              <a:t>using:</a:t>
            </a:r>
          </a:p>
          <a:p>
            <a:pPr lvl="1"/>
            <a:r>
              <a:rPr lang="en-US" dirty="0"/>
              <a:t>Fixed effects</a:t>
            </a:r>
          </a:p>
          <a:p>
            <a:pPr lvl="1"/>
            <a:r>
              <a:rPr lang="en-US" dirty="0"/>
              <a:t>Instrument Variable: Election timing</a:t>
            </a:r>
          </a:p>
          <a:p>
            <a:pPr lvl="1"/>
            <a:r>
              <a:rPr lang="en-US" dirty="0"/>
              <a:t>Difference-in-difference: Turkish protests in May 2013</a:t>
            </a:r>
          </a:p>
          <a:p>
            <a:r>
              <a:rPr lang="en-US" b="1" dirty="0"/>
              <a:t>Key findings</a:t>
            </a:r>
          </a:p>
          <a:p>
            <a:pPr lvl="1"/>
            <a:r>
              <a:rPr lang="en-US" dirty="0"/>
              <a:t>⬆️ economic uncertainty ➡️ housing returns ⬇️</a:t>
            </a:r>
          </a:p>
          <a:p>
            <a:pPr lvl="1"/>
            <a:r>
              <a:rPr lang="en-US" dirty="0"/>
              <a:t>Relationship not explained by risk or other economic conditions</a:t>
            </a:r>
          </a:p>
          <a:p>
            <a:pPr lvl="1"/>
            <a:r>
              <a:rPr lang="en-US" dirty="0"/>
              <a:t>Heterogeneity by individualism, government effectiveness, long-term orientation, young age, work ethic</a:t>
            </a:r>
          </a:p>
        </p:txBody>
      </p:sp>
    </p:spTree>
    <p:extLst>
      <p:ext uri="{BB962C8B-B14F-4D97-AF65-F5344CB8AC3E}">
        <p14:creationId xmlns:p14="http://schemas.microsoft.com/office/powerpoint/2010/main" val="4232373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B67A1"/>
        </a:solidFill>
        <a:effectLst/>
      </p:bgPr>
    </p:bg>
    <p:spTree>
      <p:nvGrpSpPr>
        <p:cNvPr id="1" name="">
          <a:extLst>
            <a:ext uri="{FF2B5EF4-FFF2-40B4-BE49-F238E27FC236}">
              <a16:creationId xmlns:a16="http://schemas.microsoft.com/office/drawing/2014/main" id="{9A99E06A-98C8-8C68-5D6B-35CECEE5F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CD8BC0-DC78-1510-ED8C-5DCA46FEFD99}"/>
              </a:ext>
            </a:extLst>
          </p:cNvPr>
          <p:cNvSpPr>
            <a:spLocks noGrp="1"/>
          </p:cNvSpPr>
          <p:nvPr>
            <p:ph type="ctrTitle"/>
          </p:nvPr>
        </p:nvSpPr>
        <p:spPr/>
        <p:txBody>
          <a:bodyPr/>
          <a:lstStyle/>
          <a:p>
            <a:r>
              <a:rPr lang="en-US" b="1" dirty="0">
                <a:solidFill>
                  <a:schemeClr val="bg1"/>
                </a:solidFill>
              </a:rPr>
              <a:t>#1: Linking Two Big Topics</a:t>
            </a:r>
          </a:p>
        </p:txBody>
      </p:sp>
      <p:sp>
        <p:nvSpPr>
          <p:cNvPr id="3" name="Subtitle 2">
            <a:extLst>
              <a:ext uri="{FF2B5EF4-FFF2-40B4-BE49-F238E27FC236}">
                <a16:creationId xmlns:a16="http://schemas.microsoft.com/office/drawing/2014/main" id="{03154BF3-5030-9AFA-C50C-81651DE9FA2E}"/>
              </a:ext>
            </a:extLst>
          </p:cNvPr>
          <p:cNvSpPr>
            <a:spLocks noGrp="1"/>
          </p:cNvSpPr>
          <p:nvPr>
            <p:ph type="subTitle" idx="1"/>
          </p:nvPr>
        </p:nvSpPr>
        <p:spPr/>
        <p:txBody>
          <a:bodyPr/>
          <a:lstStyle/>
          <a:p>
            <a:endParaRPr lang="en-US" dirty="0">
              <a:solidFill>
                <a:schemeClr val="bg1"/>
              </a:solidFill>
            </a:endParaRPr>
          </a:p>
        </p:txBody>
      </p:sp>
    </p:spTree>
    <p:extLst>
      <p:ext uri="{BB962C8B-B14F-4D97-AF65-F5344CB8AC3E}">
        <p14:creationId xmlns:p14="http://schemas.microsoft.com/office/powerpoint/2010/main" val="2331681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87412-CFE1-007A-1DFD-197E056F59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9B3760-22A0-9299-C71C-1F3F82F33D4D}"/>
              </a:ext>
            </a:extLst>
          </p:cNvPr>
          <p:cNvSpPr>
            <a:spLocks noGrp="1"/>
          </p:cNvSpPr>
          <p:nvPr>
            <p:ph type="title"/>
          </p:nvPr>
        </p:nvSpPr>
        <p:spPr>
          <a:xfrm>
            <a:off x="838200" y="365125"/>
            <a:ext cx="10515600" cy="1325563"/>
          </a:xfrm>
        </p:spPr>
        <p:txBody>
          <a:bodyPr/>
          <a:lstStyle/>
          <a:p>
            <a:r>
              <a:rPr lang="en-US" b="1" dirty="0">
                <a:solidFill>
                  <a:srgbClr val="2B67A1"/>
                </a:solidFill>
              </a:rPr>
              <a:t>Economic Policy Uncertainty Matters!</a:t>
            </a:r>
          </a:p>
        </p:txBody>
      </p:sp>
      <p:sp>
        <p:nvSpPr>
          <p:cNvPr id="8" name="Content Placeholder 7">
            <a:extLst>
              <a:ext uri="{FF2B5EF4-FFF2-40B4-BE49-F238E27FC236}">
                <a16:creationId xmlns:a16="http://schemas.microsoft.com/office/drawing/2014/main" id="{069E0494-C10A-C01A-B565-87BB92F21DB8}"/>
              </a:ext>
            </a:extLst>
          </p:cNvPr>
          <p:cNvSpPr>
            <a:spLocks noGrp="1"/>
          </p:cNvSpPr>
          <p:nvPr>
            <p:ph idx="1"/>
          </p:nvPr>
        </p:nvSpPr>
        <p:spPr>
          <a:xfrm>
            <a:off x="502024" y="1825625"/>
            <a:ext cx="5611905" cy="4351338"/>
          </a:xfrm>
        </p:spPr>
        <p:txBody>
          <a:bodyPr>
            <a:normAutofit/>
          </a:bodyPr>
          <a:lstStyle/>
          <a:p>
            <a:r>
              <a:rPr lang="en-US" dirty="0"/>
              <a:t>Influential literature since Baker, Bloom, &amp; Davis (2016 QJE) </a:t>
            </a:r>
          </a:p>
          <a:p>
            <a:pPr lvl="1"/>
            <a:r>
              <a:rPr lang="en-US" dirty="0"/>
              <a:t>Bianchi, </a:t>
            </a:r>
            <a:r>
              <a:rPr lang="en-US" dirty="0" err="1"/>
              <a:t>Ilut</a:t>
            </a:r>
            <a:r>
              <a:rPr lang="en-US" dirty="0"/>
              <a:t>, &amp; Schneider </a:t>
            </a:r>
          </a:p>
          <a:p>
            <a:pPr marL="457200" lvl="1" indent="0">
              <a:buNone/>
            </a:pPr>
            <a:r>
              <a:rPr lang="en-US" dirty="0"/>
              <a:t>    (2018 RESTUD)</a:t>
            </a:r>
          </a:p>
          <a:p>
            <a:pPr lvl="1"/>
            <a:r>
              <a:rPr lang="en-US" dirty="0"/>
              <a:t>Baker, Bloom, &amp; Terry </a:t>
            </a:r>
          </a:p>
          <a:p>
            <a:pPr marL="457200" lvl="1" indent="0">
              <a:buNone/>
            </a:pPr>
            <a:r>
              <a:rPr lang="en-US" dirty="0"/>
              <a:t>    (2024 RESTUD)</a:t>
            </a:r>
          </a:p>
          <a:p>
            <a:pPr lvl="1"/>
            <a:r>
              <a:rPr lang="en-US" dirty="0"/>
              <a:t>Baker, Davis, &amp; Levy </a:t>
            </a:r>
          </a:p>
          <a:p>
            <a:pPr marL="457200" lvl="1" indent="0">
              <a:buNone/>
            </a:pPr>
            <a:r>
              <a:rPr lang="en-US" dirty="0"/>
              <a:t>    (2022 JME)</a:t>
            </a:r>
          </a:p>
          <a:p>
            <a:pPr lvl="1"/>
            <a:r>
              <a:rPr lang="en-US" dirty="0"/>
              <a:t>Ahir, Bloom, &amp; </a:t>
            </a:r>
            <a:r>
              <a:rPr lang="en-US" dirty="0" err="1"/>
              <a:t>Furceri</a:t>
            </a:r>
            <a:r>
              <a:rPr lang="en-US" dirty="0"/>
              <a:t> (2022)</a:t>
            </a:r>
          </a:p>
        </p:txBody>
      </p:sp>
    </p:spTree>
    <p:extLst>
      <p:ext uri="{BB962C8B-B14F-4D97-AF65-F5344CB8AC3E}">
        <p14:creationId xmlns:p14="http://schemas.microsoft.com/office/powerpoint/2010/main" val="2811274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5E7B4-3221-1DF3-7D91-458C0656A2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8837B-534B-AD49-78DD-314653DAE321}"/>
              </a:ext>
            </a:extLst>
          </p:cNvPr>
          <p:cNvSpPr>
            <a:spLocks noGrp="1"/>
          </p:cNvSpPr>
          <p:nvPr>
            <p:ph type="title"/>
          </p:nvPr>
        </p:nvSpPr>
        <p:spPr>
          <a:xfrm>
            <a:off x="838200" y="365125"/>
            <a:ext cx="10515600" cy="1325563"/>
          </a:xfrm>
        </p:spPr>
        <p:txBody>
          <a:bodyPr/>
          <a:lstStyle/>
          <a:p>
            <a:r>
              <a:rPr lang="en-US" b="1" dirty="0">
                <a:solidFill>
                  <a:srgbClr val="2B67A1"/>
                </a:solidFill>
              </a:rPr>
              <a:t>Economic Policy Uncertainty Matters!</a:t>
            </a:r>
          </a:p>
        </p:txBody>
      </p:sp>
      <p:sp>
        <p:nvSpPr>
          <p:cNvPr id="8" name="Content Placeholder 7">
            <a:extLst>
              <a:ext uri="{FF2B5EF4-FFF2-40B4-BE49-F238E27FC236}">
                <a16:creationId xmlns:a16="http://schemas.microsoft.com/office/drawing/2014/main" id="{F2077DCB-DE69-A5DD-BC39-416FFA442F05}"/>
              </a:ext>
            </a:extLst>
          </p:cNvPr>
          <p:cNvSpPr>
            <a:spLocks noGrp="1"/>
          </p:cNvSpPr>
          <p:nvPr>
            <p:ph idx="1"/>
          </p:nvPr>
        </p:nvSpPr>
        <p:spPr>
          <a:xfrm>
            <a:off x="502024" y="1825625"/>
            <a:ext cx="5611905" cy="4351338"/>
          </a:xfrm>
        </p:spPr>
        <p:txBody>
          <a:bodyPr>
            <a:normAutofit/>
          </a:bodyPr>
          <a:lstStyle/>
          <a:p>
            <a:r>
              <a:rPr lang="en-US" dirty="0"/>
              <a:t>Influential literature since Baker, Bloom, &amp; Davis (2016 QJE) </a:t>
            </a:r>
          </a:p>
          <a:p>
            <a:pPr lvl="1"/>
            <a:r>
              <a:rPr lang="en-US" dirty="0"/>
              <a:t>Bianchi, </a:t>
            </a:r>
            <a:r>
              <a:rPr lang="en-US" dirty="0" err="1"/>
              <a:t>Ilut</a:t>
            </a:r>
            <a:r>
              <a:rPr lang="en-US" dirty="0"/>
              <a:t>, &amp; Schneider </a:t>
            </a:r>
          </a:p>
          <a:p>
            <a:pPr marL="457200" lvl="1" indent="0">
              <a:buNone/>
            </a:pPr>
            <a:r>
              <a:rPr lang="en-US" dirty="0"/>
              <a:t>    (2018 RESTUD)</a:t>
            </a:r>
          </a:p>
          <a:p>
            <a:pPr lvl="1"/>
            <a:r>
              <a:rPr lang="en-US" dirty="0"/>
              <a:t>Baker, Bloom, &amp; Terry </a:t>
            </a:r>
          </a:p>
          <a:p>
            <a:pPr marL="457200" lvl="1" indent="0">
              <a:buNone/>
            </a:pPr>
            <a:r>
              <a:rPr lang="en-US" dirty="0"/>
              <a:t>    (2024 RESTUD)</a:t>
            </a:r>
          </a:p>
          <a:p>
            <a:pPr lvl="1"/>
            <a:r>
              <a:rPr lang="en-US" dirty="0"/>
              <a:t>Baker, Davis, &amp; Levy </a:t>
            </a:r>
          </a:p>
          <a:p>
            <a:pPr marL="457200" lvl="1" indent="0">
              <a:buNone/>
            </a:pPr>
            <a:r>
              <a:rPr lang="en-US" dirty="0"/>
              <a:t>    (2022 JME)</a:t>
            </a:r>
          </a:p>
          <a:p>
            <a:pPr lvl="1"/>
            <a:r>
              <a:rPr lang="en-US" dirty="0"/>
              <a:t>Ahir, Bloom, &amp; </a:t>
            </a:r>
            <a:r>
              <a:rPr lang="en-US" dirty="0" err="1"/>
              <a:t>Furceri</a:t>
            </a:r>
            <a:r>
              <a:rPr lang="en-US" dirty="0"/>
              <a:t> (2022)</a:t>
            </a:r>
          </a:p>
          <a:p>
            <a:r>
              <a:rPr lang="en-US" b="1" dirty="0"/>
              <a:t>Quite topical!</a:t>
            </a:r>
          </a:p>
        </p:txBody>
      </p:sp>
      <p:pic>
        <p:nvPicPr>
          <p:cNvPr id="10" name="Picture 9">
            <a:extLst>
              <a:ext uri="{FF2B5EF4-FFF2-40B4-BE49-F238E27FC236}">
                <a16:creationId xmlns:a16="http://schemas.microsoft.com/office/drawing/2014/main" id="{257675FD-CCD0-62B2-FC0D-1026CA8F1DF2}"/>
              </a:ext>
            </a:extLst>
          </p:cNvPr>
          <p:cNvPicPr>
            <a:picLocks noChangeAspect="1"/>
          </p:cNvPicPr>
          <p:nvPr/>
        </p:nvPicPr>
        <p:blipFill>
          <a:blip r:embed="rId2"/>
          <a:stretch>
            <a:fillRect/>
          </a:stretch>
        </p:blipFill>
        <p:spPr>
          <a:xfrm>
            <a:off x="6113929" y="1614679"/>
            <a:ext cx="5576047" cy="5003699"/>
          </a:xfrm>
          <a:prstGeom prst="rect">
            <a:avLst/>
          </a:prstGeom>
        </p:spPr>
      </p:pic>
    </p:spTree>
    <p:extLst>
      <p:ext uri="{BB962C8B-B14F-4D97-AF65-F5344CB8AC3E}">
        <p14:creationId xmlns:p14="http://schemas.microsoft.com/office/powerpoint/2010/main" val="2915185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1E52D-4A89-F0EE-F4A1-7FEAD50BF2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FDA48-E370-87B4-B158-5123AB0B7F3B}"/>
              </a:ext>
            </a:extLst>
          </p:cNvPr>
          <p:cNvSpPr>
            <a:spLocks noGrp="1"/>
          </p:cNvSpPr>
          <p:nvPr>
            <p:ph type="title"/>
          </p:nvPr>
        </p:nvSpPr>
        <p:spPr>
          <a:xfrm>
            <a:off x="838200" y="365125"/>
            <a:ext cx="10515600" cy="1325563"/>
          </a:xfrm>
        </p:spPr>
        <p:txBody>
          <a:bodyPr/>
          <a:lstStyle/>
          <a:p>
            <a:r>
              <a:rPr lang="en-US" b="1" dirty="0">
                <a:solidFill>
                  <a:srgbClr val="2B67A1"/>
                </a:solidFill>
              </a:rPr>
              <a:t>“Housing </a:t>
            </a:r>
            <a:r>
              <a:rPr lang="en-US" b="1" u="sng" dirty="0">
                <a:solidFill>
                  <a:srgbClr val="2B67A1"/>
                </a:solidFill>
              </a:rPr>
              <a:t>Is</a:t>
            </a:r>
            <a:r>
              <a:rPr lang="en-US" b="1" dirty="0">
                <a:solidFill>
                  <a:srgbClr val="2B67A1"/>
                </a:solidFill>
              </a:rPr>
              <a:t> the Business Cycle” </a:t>
            </a:r>
            <a:br>
              <a:rPr lang="en-US" b="1" dirty="0">
                <a:solidFill>
                  <a:srgbClr val="2B67A1"/>
                </a:solidFill>
              </a:rPr>
            </a:br>
            <a:r>
              <a:rPr lang="en-US" b="1" dirty="0">
                <a:solidFill>
                  <a:srgbClr val="2B67A1"/>
                </a:solidFill>
              </a:rPr>
              <a:t>   – Ed Leamer (2007)</a:t>
            </a:r>
          </a:p>
        </p:txBody>
      </p:sp>
      <p:sp>
        <p:nvSpPr>
          <p:cNvPr id="8" name="Content Placeholder 7">
            <a:extLst>
              <a:ext uri="{FF2B5EF4-FFF2-40B4-BE49-F238E27FC236}">
                <a16:creationId xmlns:a16="http://schemas.microsoft.com/office/drawing/2014/main" id="{04FF0817-BC3A-75E1-BD8E-E02FAA7E6980}"/>
              </a:ext>
            </a:extLst>
          </p:cNvPr>
          <p:cNvSpPr>
            <a:spLocks noGrp="1"/>
          </p:cNvSpPr>
          <p:nvPr>
            <p:ph idx="1"/>
          </p:nvPr>
        </p:nvSpPr>
        <p:spPr>
          <a:xfrm>
            <a:off x="838200" y="1690688"/>
            <a:ext cx="10515600" cy="5167311"/>
          </a:xfrm>
        </p:spPr>
        <p:txBody>
          <a:bodyPr>
            <a:normAutofit/>
          </a:bodyPr>
          <a:lstStyle/>
          <a:p>
            <a:r>
              <a:rPr lang="en-US" b="1" dirty="0"/>
              <a:t>Housing is “a volume cycle not a price cycle”</a:t>
            </a:r>
            <a:endParaRPr lang="en-US" dirty="0"/>
          </a:p>
          <a:p>
            <a:pPr marL="0" indent="0">
              <a:buNone/>
            </a:pPr>
            <a:endParaRPr lang="en-US" dirty="0"/>
          </a:p>
        </p:txBody>
      </p:sp>
    </p:spTree>
    <p:extLst>
      <p:ext uri="{BB962C8B-B14F-4D97-AF65-F5344CB8AC3E}">
        <p14:creationId xmlns:p14="http://schemas.microsoft.com/office/powerpoint/2010/main" val="114639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30BF8-5780-70B1-59F8-60CEAB8B9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880E27-4D10-1D97-4BC8-C544E8547437}"/>
              </a:ext>
            </a:extLst>
          </p:cNvPr>
          <p:cNvSpPr>
            <a:spLocks noGrp="1"/>
          </p:cNvSpPr>
          <p:nvPr>
            <p:ph type="title"/>
          </p:nvPr>
        </p:nvSpPr>
        <p:spPr>
          <a:xfrm>
            <a:off x="838200" y="365125"/>
            <a:ext cx="10515600" cy="1325563"/>
          </a:xfrm>
        </p:spPr>
        <p:txBody>
          <a:bodyPr/>
          <a:lstStyle/>
          <a:p>
            <a:r>
              <a:rPr lang="en-US" b="1" dirty="0">
                <a:solidFill>
                  <a:srgbClr val="2B67A1"/>
                </a:solidFill>
              </a:rPr>
              <a:t>“Housing </a:t>
            </a:r>
            <a:r>
              <a:rPr lang="en-US" b="1" u="sng" dirty="0">
                <a:solidFill>
                  <a:srgbClr val="2B67A1"/>
                </a:solidFill>
              </a:rPr>
              <a:t>Is</a:t>
            </a:r>
            <a:r>
              <a:rPr lang="en-US" b="1" dirty="0">
                <a:solidFill>
                  <a:srgbClr val="2B67A1"/>
                </a:solidFill>
              </a:rPr>
              <a:t> the Business Cycle” </a:t>
            </a:r>
            <a:br>
              <a:rPr lang="en-US" b="1" dirty="0">
                <a:solidFill>
                  <a:srgbClr val="2B67A1"/>
                </a:solidFill>
              </a:rPr>
            </a:br>
            <a:r>
              <a:rPr lang="en-US" b="1" dirty="0">
                <a:solidFill>
                  <a:srgbClr val="2B67A1"/>
                </a:solidFill>
              </a:rPr>
              <a:t>   – Ed Leamer (2007)</a:t>
            </a:r>
          </a:p>
        </p:txBody>
      </p:sp>
      <p:sp>
        <p:nvSpPr>
          <p:cNvPr id="8" name="Content Placeholder 7">
            <a:extLst>
              <a:ext uri="{FF2B5EF4-FFF2-40B4-BE49-F238E27FC236}">
                <a16:creationId xmlns:a16="http://schemas.microsoft.com/office/drawing/2014/main" id="{963697D2-0410-895C-A176-8C38345461E6}"/>
              </a:ext>
            </a:extLst>
          </p:cNvPr>
          <p:cNvSpPr>
            <a:spLocks noGrp="1"/>
          </p:cNvSpPr>
          <p:nvPr>
            <p:ph idx="1"/>
          </p:nvPr>
        </p:nvSpPr>
        <p:spPr>
          <a:xfrm>
            <a:off x="838200" y="1690688"/>
            <a:ext cx="10515600" cy="5167311"/>
          </a:xfrm>
        </p:spPr>
        <p:txBody>
          <a:bodyPr>
            <a:normAutofit/>
          </a:bodyPr>
          <a:lstStyle/>
          <a:p>
            <a:r>
              <a:rPr lang="en-US" b="1" dirty="0"/>
              <a:t>Housing is “a volume cycle not a price cycle”</a:t>
            </a:r>
            <a:endParaRPr lang="en-US" dirty="0"/>
          </a:p>
          <a:p>
            <a:r>
              <a:rPr lang="en-US" b="1" dirty="0"/>
              <a:t>Ghent &amp; Owyang (2010, JUE): </a:t>
            </a:r>
          </a:p>
          <a:p>
            <a:pPr marL="0" indent="0">
              <a:buNone/>
            </a:pPr>
            <a:r>
              <a:rPr lang="en-US" dirty="0"/>
              <a:t>    U.S. city-level evidence shows House Price ⬇️ </a:t>
            </a:r>
          </a:p>
          <a:p>
            <a:pPr marL="0" indent="0">
              <a:buNone/>
            </a:pPr>
            <a:r>
              <a:rPr lang="en-US" dirty="0"/>
              <a:t>    </a:t>
            </a:r>
            <a:r>
              <a:rPr lang="en-US" b="1" i="1" dirty="0"/>
              <a:t>not</a:t>
            </a:r>
            <a:r>
              <a:rPr lang="en-US" dirty="0"/>
              <a:t> followed by Employment ⬇️</a:t>
            </a:r>
            <a:endParaRPr lang="en-US" sz="900" dirty="0"/>
          </a:p>
          <a:p>
            <a:pPr lvl="1"/>
            <a:r>
              <a:rPr lang="en-US" dirty="0"/>
              <a:t>“Housing is merely a proxy for other consumption or wealth indicators”</a:t>
            </a:r>
          </a:p>
          <a:p>
            <a:pPr marL="0" indent="0">
              <a:buNone/>
            </a:pPr>
            <a:endParaRPr lang="en-US" dirty="0"/>
          </a:p>
        </p:txBody>
      </p:sp>
    </p:spTree>
    <p:extLst>
      <p:ext uri="{BB962C8B-B14F-4D97-AF65-F5344CB8AC3E}">
        <p14:creationId xmlns:p14="http://schemas.microsoft.com/office/powerpoint/2010/main" val="1893431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DD40E-F55A-AA68-A196-4961F625A1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23936-746D-F075-189E-65F35510038D}"/>
              </a:ext>
            </a:extLst>
          </p:cNvPr>
          <p:cNvSpPr>
            <a:spLocks noGrp="1"/>
          </p:cNvSpPr>
          <p:nvPr>
            <p:ph type="title"/>
          </p:nvPr>
        </p:nvSpPr>
        <p:spPr>
          <a:xfrm>
            <a:off x="838200" y="365125"/>
            <a:ext cx="10515600" cy="1325563"/>
          </a:xfrm>
        </p:spPr>
        <p:txBody>
          <a:bodyPr/>
          <a:lstStyle/>
          <a:p>
            <a:r>
              <a:rPr lang="en-US" b="1" dirty="0">
                <a:solidFill>
                  <a:srgbClr val="2B67A1"/>
                </a:solidFill>
              </a:rPr>
              <a:t>“Housing </a:t>
            </a:r>
            <a:r>
              <a:rPr lang="en-US" b="1" u="sng" dirty="0">
                <a:solidFill>
                  <a:srgbClr val="2B67A1"/>
                </a:solidFill>
              </a:rPr>
              <a:t>Is</a:t>
            </a:r>
            <a:r>
              <a:rPr lang="en-US" b="1" dirty="0">
                <a:solidFill>
                  <a:srgbClr val="2B67A1"/>
                </a:solidFill>
              </a:rPr>
              <a:t> the Business Cycle” </a:t>
            </a:r>
            <a:br>
              <a:rPr lang="en-US" b="1" dirty="0">
                <a:solidFill>
                  <a:srgbClr val="2B67A1"/>
                </a:solidFill>
              </a:rPr>
            </a:br>
            <a:r>
              <a:rPr lang="en-US" b="1" dirty="0">
                <a:solidFill>
                  <a:srgbClr val="2B67A1"/>
                </a:solidFill>
              </a:rPr>
              <a:t>   – Ed Leamer (2007)</a:t>
            </a:r>
          </a:p>
        </p:txBody>
      </p:sp>
      <p:sp>
        <p:nvSpPr>
          <p:cNvPr id="8" name="Content Placeholder 7">
            <a:extLst>
              <a:ext uri="{FF2B5EF4-FFF2-40B4-BE49-F238E27FC236}">
                <a16:creationId xmlns:a16="http://schemas.microsoft.com/office/drawing/2014/main" id="{388CF8A6-8F4C-0088-FA17-C1C5F95B9206}"/>
              </a:ext>
            </a:extLst>
          </p:cNvPr>
          <p:cNvSpPr>
            <a:spLocks noGrp="1"/>
          </p:cNvSpPr>
          <p:nvPr>
            <p:ph idx="1"/>
          </p:nvPr>
        </p:nvSpPr>
        <p:spPr>
          <a:xfrm>
            <a:off x="838200" y="1690688"/>
            <a:ext cx="10515600" cy="5167311"/>
          </a:xfrm>
        </p:spPr>
        <p:txBody>
          <a:bodyPr>
            <a:normAutofit lnSpcReduction="10000"/>
          </a:bodyPr>
          <a:lstStyle/>
          <a:p>
            <a:r>
              <a:rPr lang="en-US" b="1" dirty="0"/>
              <a:t>Housing is “a volume cycle not a price cycle”</a:t>
            </a:r>
            <a:endParaRPr lang="en-US" dirty="0"/>
          </a:p>
          <a:p>
            <a:r>
              <a:rPr lang="en-US" b="1" dirty="0"/>
              <a:t>Ghent &amp; Owyang (2010, JUE): </a:t>
            </a:r>
          </a:p>
          <a:p>
            <a:pPr marL="0" indent="0">
              <a:buNone/>
            </a:pPr>
            <a:r>
              <a:rPr lang="en-US" dirty="0"/>
              <a:t>    U.S. city-level evidence shows House Price ⬇️ </a:t>
            </a:r>
          </a:p>
          <a:p>
            <a:pPr marL="0" indent="0">
              <a:buNone/>
            </a:pPr>
            <a:r>
              <a:rPr lang="en-US" dirty="0"/>
              <a:t>    </a:t>
            </a:r>
            <a:r>
              <a:rPr lang="en-US" b="1" i="1" dirty="0"/>
              <a:t>not</a:t>
            </a:r>
            <a:r>
              <a:rPr lang="en-US" dirty="0"/>
              <a:t> followed by Employment ⬇️</a:t>
            </a:r>
            <a:endParaRPr lang="en-US" sz="900" dirty="0"/>
          </a:p>
          <a:p>
            <a:pPr lvl="1"/>
            <a:r>
              <a:rPr lang="en-US" dirty="0"/>
              <a:t>“Housing is merely a proxy for other consumption or wealth indicators”</a:t>
            </a:r>
          </a:p>
          <a:p>
            <a:pPr lvl="1"/>
            <a:endParaRPr lang="en-US" dirty="0"/>
          </a:p>
          <a:p>
            <a:r>
              <a:rPr lang="en-US" b="1" dirty="0"/>
              <a:t>Link with these existing literatures</a:t>
            </a:r>
          </a:p>
          <a:p>
            <a:pPr lvl="1"/>
            <a:r>
              <a:rPr lang="en-US" dirty="0"/>
              <a:t>What is the key differentiator of your paper?</a:t>
            </a:r>
          </a:p>
          <a:p>
            <a:pPr lvl="1"/>
            <a:r>
              <a:rPr lang="en-US" dirty="0"/>
              <a:t>Is housing different to how uncertainty affects asset prices?</a:t>
            </a:r>
          </a:p>
          <a:p>
            <a:pPr lvl="1"/>
            <a:r>
              <a:rPr lang="en-US" dirty="0"/>
              <a:t>Engage with Leamer debate</a:t>
            </a:r>
          </a:p>
          <a:p>
            <a:pPr lvl="1"/>
            <a:r>
              <a:rPr lang="en-US" dirty="0"/>
              <a:t>Is there a VIX-type measure of uncertainty that you could use? </a:t>
            </a:r>
          </a:p>
          <a:p>
            <a:pPr marL="457200" lvl="1" indent="0">
              <a:buNone/>
            </a:pPr>
            <a:r>
              <a:rPr lang="en-US" dirty="0"/>
              <a:t>    - Something to capture real-estate specific uncertainty would be great.</a:t>
            </a:r>
          </a:p>
          <a:p>
            <a:endParaRPr lang="en-US" dirty="0"/>
          </a:p>
        </p:txBody>
      </p:sp>
    </p:spTree>
    <p:extLst>
      <p:ext uri="{BB962C8B-B14F-4D97-AF65-F5344CB8AC3E}">
        <p14:creationId xmlns:p14="http://schemas.microsoft.com/office/powerpoint/2010/main" val="3701166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B67A1"/>
        </a:solidFill>
        <a:effectLst/>
      </p:bgPr>
    </p:bg>
    <p:spTree>
      <p:nvGrpSpPr>
        <p:cNvPr id="1" name="">
          <a:extLst>
            <a:ext uri="{FF2B5EF4-FFF2-40B4-BE49-F238E27FC236}">
              <a16:creationId xmlns:a16="http://schemas.microsoft.com/office/drawing/2014/main" id="{6BC4777C-E7F0-BD8B-4D8E-FB86FC64F2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BA05B-AADB-1C2B-4DEB-7804067DD0FB}"/>
              </a:ext>
            </a:extLst>
          </p:cNvPr>
          <p:cNvSpPr>
            <a:spLocks noGrp="1"/>
          </p:cNvSpPr>
          <p:nvPr>
            <p:ph type="ctrTitle"/>
          </p:nvPr>
        </p:nvSpPr>
        <p:spPr/>
        <p:txBody>
          <a:bodyPr/>
          <a:lstStyle/>
          <a:p>
            <a:r>
              <a:rPr lang="en-US" b="1" dirty="0">
                <a:solidFill>
                  <a:schemeClr val="bg1"/>
                </a:solidFill>
              </a:rPr>
              <a:t>#2: Difference-in-Differences</a:t>
            </a:r>
          </a:p>
        </p:txBody>
      </p:sp>
      <p:sp>
        <p:nvSpPr>
          <p:cNvPr id="3" name="Subtitle 2">
            <a:extLst>
              <a:ext uri="{FF2B5EF4-FFF2-40B4-BE49-F238E27FC236}">
                <a16:creationId xmlns:a16="http://schemas.microsoft.com/office/drawing/2014/main" id="{D6851489-E7A3-8C99-1EA0-69C766DEB9A0}"/>
              </a:ext>
            </a:extLst>
          </p:cNvPr>
          <p:cNvSpPr>
            <a:spLocks noGrp="1"/>
          </p:cNvSpPr>
          <p:nvPr>
            <p:ph type="subTitle" idx="1"/>
          </p:nvPr>
        </p:nvSpPr>
        <p:spPr/>
        <p:txBody>
          <a:bodyPr/>
          <a:lstStyle/>
          <a:p>
            <a:endParaRPr lang="en-US" dirty="0">
              <a:solidFill>
                <a:schemeClr val="bg1"/>
              </a:solidFill>
            </a:endParaRPr>
          </a:p>
        </p:txBody>
      </p:sp>
    </p:spTree>
    <p:extLst>
      <p:ext uri="{BB962C8B-B14F-4D97-AF65-F5344CB8AC3E}">
        <p14:creationId xmlns:p14="http://schemas.microsoft.com/office/powerpoint/2010/main" val="4263669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EFC1D-0992-B478-5EC6-8BDF4972F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BAF08-5D64-B9A1-DBEF-29F394B91D74}"/>
              </a:ext>
            </a:extLst>
          </p:cNvPr>
          <p:cNvSpPr>
            <a:spLocks noGrp="1"/>
          </p:cNvSpPr>
          <p:nvPr>
            <p:ph type="title"/>
          </p:nvPr>
        </p:nvSpPr>
        <p:spPr/>
        <p:txBody>
          <a:bodyPr/>
          <a:lstStyle/>
          <a:p>
            <a:r>
              <a:rPr lang="en-US" b="1" dirty="0">
                <a:solidFill>
                  <a:srgbClr val="2B67A1"/>
                </a:solidFill>
              </a:rPr>
              <a:t>Sharpen Difference-in-Differences Analysis</a:t>
            </a:r>
          </a:p>
        </p:txBody>
      </p:sp>
      <p:sp>
        <p:nvSpPr>
          <p:cNvPr id="3" name="Content Placeholder 2">
            <a:extLst>
              <a:ext uri="{FF2B5EF4-FFF2-40B4-BE49-F238E27FC236}">
                <a16:creationId xmlns:a16="http://schemas.microsoft.com/office/drawing/2014/main" id="{0403D434-379D-4AFC-7D3C-70E4DC6E7E0A}"/>
              </a:ext>
            </a:extLst>
          </p:cNvPr>
          <p:cNvSpPr>
            <a:spLocks noGrp="1"/>
          </p:cNvSpPr>
          <p:nvPr>
            <p:ph idx="1"/>
          </p:nvPr>
        </p:nvSpPr>
        <p:spPr>
          <a:xfrm>
            <a:off x="838200" y="1500554"/>
            <a:ext cx="10515600" cy="5357445"/>
          </a:xfrm>
        </p:spPr>
        <p:txBody>
          <a:bodyPr>
            <a:normAutofit/>
          </a:bodyPr>
          <a:lstStyle/>
          <a:p>
            <a:r>
              <a:rPr lang="en-US" dirty="0"/>
              <a:t>DID is a nice idea but it needs more work to be convincing!</a:t>
            </a:r>
          </a:p>
          <a:p>
            <a:r>
              <a:rPr lang="en-US" dirty="0"/>
              <a:t>How similar are control to treatments? Compare baseline means across variables (e.g., homeownership rate, demographics, religion) and institutional details of housing/mortgage markets and government</a:t>
            </a:r>
          </a:p>
          <a:p>
            <a:pPr lvl="1"/>
            <a:r>
              <a:rPr lang="en-US" dirty="0"/>
              <a:t>Eastern European countries seem quite different culturally to Turkey</a:t>
            </a:r>
          </a:p>
          <a:p>
            <a:pPr lvl="1"/>
            <a:r>
              <a:rPr lang="en-US" dirty="0"/>
              <a:t>Can you use a similar country? </a:t>
            </a:r>
            <a:r>
              <a:rPr lang="en-US" dirty="0" err="1"/>
              <a:t>Azerbaija</a:t>
            </a:r>
            <a:endParaRPr lang="en-US" dirty="0"/>
          </a:p>
        </p:txBody>
      </p:sp>
    </p:spTree>
    <p:extLst>
      <p:ext uri="{BB962C8B-B14F-4D97-AF65-F5344CB8AC3E}">
        <p14:creationId xmlns:p14="http://schemas.microsoft.com/office/powerpoint/2010/main" val="2485688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03991-B888-D430-A8A2-2B5D95FAB2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ACA87A-16D5-2297-392E-349F6EFA7ABC}"/>
              </a:ext>
            </a:extLst>
          </p:cNvPr>
          <p:cNvSpPr>
            <a:spLocks noGrp="1"/>
          </p:cNvSpPr>
          <p:nvPr>
            <p:ph type="title"/>
          </p:nvPr>
        </p:nvSpPr>
        <p:spPr/>
        <p:txBody>
          <a:bodyPr/>
          <a:lstStyle/>
          <a:p>
            <a:r>
              <a:rPr lang="en-US" b="1" dirty="0">
                <a:solidFill>
                  <a:srgbClr val="2B67A1"/>
                </a:solidFill>
              </a:rPr>
              <a:t>Sharpen Difference-in-Differences Analysis</a:t>
            </a:r>
          </a:p>
        </p:txBody>
      </p:sp>
      <p:sp>
        <p:nvSpPr>
          <p:cNvPr id="3" name="Content Placeholder 2">
            <a:extLst>
              <a:ext uri="{FF2B5EF4-FFF2-40B4-BE49-F238E27FC236}">
                <a16:creationId xmlns:a16="http://schemas.microsoft.com/office/drawing/2014/main" id="{1EE746BD-9278-1800-6406-54B6AFF77AB6}"/>
              </a:ext>
            </a:extLst>
          </p:cNvPr>
          <p:cNvSpPr>
            <a:spLocks noGrp="1"/>
          </p:cNvSpPr>
          <p:nvPr>
            <p:ph idx="1"/>
          </p:nvPr>
        </p:nvSpPr>
        <p:spPr>
          <a:xfrm>
            <a:off x="838200" y="1500554"/>
            <a:ext cx="10515600" cy="5357445"/>
          </a:xfrm>
        </p:spPr>
        <p:txBody>
          <a:bodyPr>
            <a:normAutofit/>
          </a:bodyPr>
          <a:lstStyle/>
          <a:p>
            <a:r>
              <a:rPr lang="en-US" dirty="0"/>
              <a:t>DID is a nice idea but it needs more work to be convincing!</a:t>
            </a:r>
          </a:p>
          <a:p>
            <a:r>
              <a:rPr lang="en-US" dirty="0"/>
              <a:t>How similar are control to treatments? Compare baseline means across variables (e.g., homeownership rate, demographics, religion) and institutional details of housing/mortgage markets and government</a:t>
            </a:r>
          </a:p>
          <a:p>
            <a:pPr lvl="1"/>
            <a:r>
              <a:rPr lang="en-US" dirty="0"/>
              <a:t>Eastern European countries seem quite different culturally to Turkey</a:t>
            </a:r>
          </a:p>
          <a:p>
            <a:pPr lvl="1"/>
            <a:r>
              <a:rPr lang="en-US" dirty="0"/>
              <a:t>Can you use a similar country? Azerbaijan?</a:t>
            </a:r>
          </a:p>
          <a:p>
            <a:r>
              <a:rPr lang="en-US" dirty="0"/>
              <a:t>Test for common trends in pre-period</a:t>
            </a:r>
          </a:p>
          <a:p>
            <a:r>
              <a:rPr lang="en-US" dirty="0"/>
              <a:t>Show figure of dynamic DID (including pre and post periods)</a:t>
            </a:r>
          </a:p>
          <a:p>
            <a:endParaRPr lang="en-US" dirty="0"/>
          </a:p>
        </p:txBody>
      </p:sp>
    </p:spTree>
    <p:extLst>
      <p:ext uri="{BB962C8B-B14F-4D97-AF65-F5344CB8AC3E}">
        <p14:creationId xmlns:p14="http://schemas.microsoft.com/office/powerpoint/2010/main" val="129828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344F2-DA71-EE6F-2A76-4CB3BAC9C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AF53F8-FBD2-CEB3-7A1D-F64C8E626807}"/>
              </a:ext>
            </a:extLst>
          </p:cNvPr>
          <p:cNvSpPr>
            <a:spLocks noGrp="1"/>
          </p:cNvSpPr>
          <p:nvPr>
            <p:ph type="title"/>
          </p:nvPr>
        </p:nvSpPr>
        <p:spPr/>
        <p:txBody>
          <a:bodyPr/>
          <a:lstStyle/>
          <a:p>
            <a:r>
              <a:rPr lang="en-US" b="1" dirty="0">
                <a:solidFill>
                  <a:srgbClr val="2B67A1"/>
                </a:solidFill>
              </a:rPr>
              <a:t>Sharpen Difference-in-Differences Analysis</a:t>
            </a:r>
          </a:p>
        </p:txBody>
      </p:sp>
      <p:sp>
        <p:nvSpPr>
          <p:cNvPr id="3" name="Content Placeholder 2">
            <a:extLst>
              <a:ext uri="{FF2B5EF4-FFF2-40B4-BE49-F238E27FC236}">
                <a16:creationId xmlns:a16="http://schemas.microsoft.com/office/drawing/2014/main" id="{976F6575-014D-5039-208F-D816226DFA19}"/>
              </a:ext>
            </a:extLst>
          </p:cNvPr>
          <p:cNvSpPr>
            <a:spLocks noGrp="1"/>
          </p:cNvSpPr>
          <p:nvPr>
            <p:ph idx="1"/>
          </p:nvPr>
        </p:nvSpPr>
        <p:spPr>
          <a:xfrm>
            <a:off x="838200" y="1500554"/>
            <a:ext cx="10515600" cy="5357445"/>
          </a:xfrm>
        </p:spPr>
        <p:txBody>
          <a:bodyPr>
            <a:normAutofit fontScale="92500" lnSpcReduction="10000"/>
          </a:bodyPr>
          <a:lstStyle/>
          <a:p>
            <a:r>
              <a:rPr lang="en-US" dirty="0"/>
              <a:t>DID is a nice idea but it needs more work to be convincing!</a:t>
            </a:r>
          </a:p>
          <a:p>
            <a:r>
              <a:rPr lang="en-US" dirty="0"/>
              <a:t>How similar are control to treatments? Compare baseline means across variables (e.g., homeownership rate, demographics, religion) and institutional details of housing/mortgage markets and government</a:t>
            </a:r>
          </a:p>
          <a:p>
            <a:pPr lvl="1"/>
            <a:r>
              <a:rPr lang="en-US" dirty="0"/>
              <a:t>Eastern European countries seem quite different culturally to Turkey</a:t>
            </a:r>
          </a:p>
          <a:p>
            <a:pPr lvl="1"/>
            <a:r>
              <a:rPr lang="en-US" dirty="0"/>
              <a:t>Can you use a similar country? Azerbaijan?</a:t>
            </a:r>
          </a:p>
          <a:p>
            <a:r>
              <a:rPr lang="en-US" dirty="0"/>
              <a:t>Test for common trends in pre-period</a:t>
            </a:r>
          </a:p>
          <a:p>
            <a:r>
              <a:rPr lang="en-US" dirty="0"/>
              <a:t>Show figure of dynamic DID (including pre and post periods)</a:t>
            </a:r>
          </a:p>
          <a:p>
            <a:r>
              <a:rPr lang="en-US" dirty="0"/>
              <a:t>“Uncertainty was largely disconnected from underlying business cycle” </a:t>
            </a:r>
          </a:p>
          <a:p>
            <a:pPr lvl="1"/>
            <a:r>
              <a:rPr lang="en-US" dirty="0"/>
              <a:t>- show me evidence to support this! What happened to stock market in Turkey?</a:t>
            </a:r>
          </a:p>
          <a:p>
            <a:r>
              <a:rPr lang="en-US" dirty="0"/>
              <a:t>Robust Standard errors should normally be clustered by country in DID …but as you only have 1 treated cluster follow rearrangement procedure of Hagemann (2025 RESTUD, </a:t>
            </a:r>
            <a:r>
              <a:rPr lang="en-US" dirty="0">
                <a:hlinkClick r:id="rId2"/>
              </a:rPr>
              <a:t>R/STATA code</a:t>
            </a:r>
            <a:r>
              <a:rPr lang="en-US" dirty="0"/>
              <a:t>)</a:t>
            </a:r>
          </a:p>
          <a:p>
            <a:endParaRPr lang="en-US" dirty="0"/>
          </a:p>
        </p:txBody>
      </p:sp>
    </p:spTree>
    <p:extLst>
      <p:ext uri="{BB962C8B-B14F-4D97-AF65-F5344CB8AC3E}">
        <p14:creationId xmlns:p14="http://schemas.microsoft.com/office/powerpoint/2010/main" val="205350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B67A1"/>
        </a:solidFill>
        <a:effectLst/>
      </p:bgPr>
    </p:bg>
    <p:spTree>
      <p:nvGrpSpPr>
        <p:cNvPr id="1" name="">
          <a:extLst>
            <a:ext uri="{FF2B5EF4-FFF2-40B4-BE49-F238E27FC236}">
              <a16:creationId xmlns:a16="http://schemas.microsoft.com/office/drawing/2014/main" id="{673F1C87-F669-ADEB-B061-5249B7BFDA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3EE5C-3BA7-3464-411E-32B55C985B7B}"/>
              </a:ext>
            </a:extLst>
          </p:cNvPr>
          <p:cNvSpPr>
            <a:spLocks noGrp="1"/>
          </p:cNvSpPr>
          <p:nvPr>
            <p:ph type="ctrTitle"/>
          </p:nvPr>
        </p:nvSpPr>
        <p:spPr/>
        <p:txBody>
          <a:bodyPr/>
          <a:lstStyle/>
          <a:p>
            <a:r>
              <a:rPr lang="en-US" b="1" dirty="0">
                <a:solidFill>
                  <a:schemeClr val="bg1"/>
                </a:solidFill>
              </a:rPr>
              <a:t>#3 Other Suggestions</a:t>
            </a:r>
          </a:p>
        </p:txBody>
      </p:sp>
      <p:sp>
        <p:nvSpPr>
          <p:cNvPr id="3" name="Subtitle 2">
            <a:extLst>
              <a:ext uri="{FF2B5EF4-FFF2-40B4-BE49-F238E27FC236}">
                <a16:creationId xmlns:a16="http://schemas.microsoft.com/office/drawing/2014/main" id="{08D670D0-EB40-E627-7FE7-0DECD6730677}"/>
              </a:ext>
            </a:extLst>
          </p:cNvPr>
          <p:cNvSpPr>
            <a:spLocks noGrp="1"/>
          </p:cNvSpPr>
          <p:nvPr>
            <p:ph type="subTitle" idx="1"/>
          </p:nvPr>
        </p:nvSpPr>
        <p:spPr/>
        <p:txBody>
          <a:bodyPr/>
          <a:lstStyle/>
          <a:p>
            <a:endParaRPr lang="en-US" dirty="0">
              <a:solidFill>
                <a:schemeClr val="bg1"/>
              </a:solidFill>
            </a:endParaRPr>
          </a:p>
        </p:txBody>
      </p:sp>
    </p:spTree>
    <p:extLst>
      <p:ext uri="{BB962C8B-B14F-4D97-AF65-F5344CB8AC3E}">
        <p14:creationId xmlns:p14="http://schemas.microsoft.com/office/powerpoint/2010/main" val="3214491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C27A-EC24-AB8D-EE0D-3C004EFA1156}"/>
              </a:ext>
            </a:extLst>
          </p:cNvPr>
          <p:cNvSpPr>
            <a:spLocks noGrp="1"/>
          </p:cNvSpPr>
          <p:nvPr>
            <p:ph type="title"/>
          </p:nvPr>
        </p:nvSpPr>
        <p:spPr/>
        <p:txBody>
          <a:bodyPr/>
          <a:lstStyle/>
          <a:p>
            <a:r>
              <a:rPr lang="en-US" b="1" dirty="0">
                <a:solidFill>
                  <a:srgbClr val="2B67A1"/>
                </a:solidFill>
              </a:rPr>
              <a:t>Cultural Anchors Or Heterogeneity</a:t>
            </a:r>
          </a:p>
        </p:txBody>
      </p:sp>
      <p:sp>
        <p:nvSpPr>
          <p:cNvPr id="3" name="Content Placeholder 2">
            <a:extLst>
              <a:ext uri="{FF2B5EF4-FFF2-40B4-BE49-F238E27FC236}">
                <a16:creationId xmlns:a16="http://schemas.microsoft.com/office/drawing/2014/main" id="{AEC2414D-8914-599B-5E09-B650442D550F}"/>
              </a:ext>
            </a:extLst>
          </p:cNvPr>
          <p:cNvSpPr>
            <a:spLocks noGrp="1"/>
          </p:cNvSpPr>
          <p:nvPr>
            <p:ph idx="1"/>
          </p:nvPr>
        </p:nvSpPr>
        <p:spPr>
          <a:xfrm>
            <a:off x="609600" y="1524000"/>
            <a:ext cx="11019692" cy="4968875"/>
          </a:xfrm>
        </p:spPr>
        <p:txBody>
          <a:bodyPr>
            <a:normAutofit/>
          </a:bodyPr>
          <a:lstStyle/>
          <a:p>
            <a:r>
              <a:rPr lang="en-US" dirty="0"/>
              <a:t>Suggest removing the emphasis on cultural anchors</a:t>
            </a:r>
          </a:p>
          <a:p>
            <a:pPr lvl="1"/>
            <a:r>
              <a:rPr lang="en-US" dirty="0"/>
              <a:t>Term is not well-explained/justified to link to psychology on anchoring</a:t>
            </a:r>
          </a:p>
          <a:p>
            <a:pPr lvl="1"/>
            <a:r>
              <a:rPr lang="en-US" dirty="0"/>
              <a:t>Less contentious economics phrase is heterogeneity as moderators of relationship between housing returns and uncertainty</a:t>
            </a:r>
          </a:p>
          <a:p>
            <a:pPr lvl="1"/>
            <a:r>
              <a:rPr lang="en-US" dirty="0"/>
              <a:t>Factors such as government effectiveness I don’t think of as cultural per se</a:t>
            </a:r>
          </a:p>
          <a:p>
            <a:pPr lvl="1"/>
            <a:r>
              <a:rPr lang="en-US" dirty="0"/>
              <a:t>I don’t think you have great variation here to exploit</a:t>
            </a:r>
          </a:p>
        </p:txBody>
      </p:sp>
    </p:spTree>
    <p:extLst>
      <p:ext uri="{BB962C8B-B14F-4D97-AF65-F5344CB8AC3E}">
        <p14:creationId xmlns:p14="http://schemas.microsoft.com/office/powerpoint/2010/main" val="1757978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38988-D108-02CC-6313-4906ADADA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98AF0-BD6F-79DD-8B80-0B9AD12ABB22}"/>
              </a:ext>
            </a:extLst>
          </p:cNvPr>
          <p:cNvSpPr>
            <a:spLocks noGrp="1"/>
          </p:cNvSpPr>
          <p:nvPr>
            <p:ph type="title"/>
          </p:nvPr>
        </p:nvSpPr>
        <p:spPr/>
        <p:txBody>
          <a:bodyPr/>
          <a:lstStyle/>
          <a:p>
            <a:r>
              <a:rPr lang="en-US" b="1" dirty="0">
                <a:solidFill>
                  <a:srgbClr val="2B67A1"/>
                </a:solidFill>
              </a:rPr>
              <a:t>Cultural Anchors Or Heterogeneity</a:t>
            </a:r>
          </a:p>
        </p:txBody>
      </p:sp>
      <p:sp>
        <p:nvSpPr>
          <p:cNvPr id="3" name="Content Placeholder 2">
            <a:extLst>
              <a:ext uri="{FF2B5EF4-FFF2-40B4-BE49-F238E27FC236}">
                <a16:creationId xmlns:a16="http://schemas.microsoft.com/office/drawing/2014/main" id="{D6BD3D2A-52DD-AE19-B763-D0E7D0A54584}"/>
              </a:ext>
            </a:extLst>
          </p:cNvPr>
          <p:cNvSpPr>
            <a:spLocks noGrp="1"/>
          </p:cNvSpPr>
          <p:nvPr>
            <p:ph idx="1"/>
          </p:nvPr>
        </p:nvSpPr>
        <p:spPr>
          <a:xfrm>
            <a:off x="609600" y="1524000"/>
            <a:ext cx="11019692" cy="4968875"/>
          </a:xfrm>
        </p:spPr>
        <p:txBody>
          <a:bodyPr>
            <a:normAutofit/>
          </a:bodyPr>
          <a:lstStyle/>
          <a:p>
            <a:r>
              <a:rPr lang="en-US" dirty="0"/>
              <a:t>Suggest removing the emphasis on cultural anchors</a:t>
            </a:r>
          </a:p>
          <a:p>
            <a:pPr lvl="1"/>
            <a:r>
              <a:rPr lang="en-US" dirty="0"/>
              <a:t>Term is not well-explained/justified to link to psychology on anchoring</a:t>
            </a:r>
          </a:p>
          <a:p>
            <a:pPr lvl="1"/>
            <a:r>
              <a:rPr lang="en-US" dirty="0"/>
              <a:t>Less contentious economics phrase is heterogeneity as moderators of relationship between housing returns and uncertainty</a:t>
            </a:r>
          </a:p>
          <a:p>
            <a:pPr lvl="1"/>
            <a:r>
              <a:rPr lang="en-US" dirty="0"/>
              <a:t>Factors such as government effectiveness I don’t think of as cultural per se</a:t>
            </a:r>
          </a:p>
          <a:p>
            <a:pPr lvl="1"/>
            <a:r>
              <a:rPr lang="en-US" dirty="0"/>
              <a:t>I don’t think you have great variation here to exploit</a:t>
            </a:r>
          </a:p>
          <a:p>
            <a:r>
              <a:rPr lang="en-US" dirty="0"/>
              <a:t>I’m not a macro person and use micro rather than cross-country data</a:t>
            </a:r>
          </a:p>
          <a:p>
            <a:r>
              <a:rPr lang="en-US" dirty="0"/>
              <a:t>But you may benefit from following the methods used in uncertainty literature  e.g., structural VAR analysis in Baker, Bloom, &amp; Terry (2024)</a:t>
            </a:r>
          </a:p>
          <a:p>
            <a:pPr lvl="1"/>
            <a:r>
              <a:rPr lang="en-US" dirty="0"/>
              <a:t>Their code and data are public </a:t>
            </a:r>
          </a:p>
          <a:p>
            <a:pPr lvl="1"/>
            <a:r>
              <a:rPr lang="en-US" dirty="0"/>
              <a:t>Also see Bianchi, </a:t>
            </a:r>
            <a:r>
              <a:rPr lang="en-US" dirty="0" err="1"/>
              <a:t>Ilut</a:t>
            </a:r>
            <a:r>
              <a:rPr lang="en-US" dirty="0"/>
              <a:t>, &amp; Schneider (2018 RESTUD)</a:t>
            </a:r>
          </a:p>
        </p:txBody>
      </p:sp>
    </p:spTree>
    <p:extLst>
      <p:ext uri="{BB962C8B-B14F-4D97-AF65-F5344CB8AC3E}">
        <p14:creationId xmlns:p14="http://schemas.microsoft.com/office/powerpoint/2010/main" val="1018622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AABD9-8FD3-13F0-E854-519CC4B26EE0}"/>
            </a:ext>
          </a:extLst>
        </p:cNvPr>
        <p:cNvGrpSpPr/>
        <p:nvPr/>
      </p:nvGrpSpPr>
      <p:grpSpPr>
        <a:xfrm>
          <a:off x="0" y="0"/>
          <a:ext cx="0" cy="0"/>
          <a:chOff x="0" y="0"/>
          <a:chExt cx="0" cy="0"/>
        </a:xfrm>
      </p:grpSpPr>
      <p:pic>
        <p:nvPicPr>
          <p:cNvPr id="4" name="Content Placeholder 4" descr="A screenshot of a computer&#10;&#10;AI-generated content may be incorrect.">
            <a:extLst>
              <a:ext uri="{FF2B5EF4-FFF2-40B4-BE49-F238E27FC236}">
                <a16:creationId xmlns:a16="http://schemas.microsoft.com/office/drawing/2014/main" id="{6CE138D9-92DF-E3EC-F878-4E5DBEA4A8C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78172" y="1369936"/>
            <a:ext cx="7851313" cy="3918756"/>
          </a:xfrm>
        </p:spPr>
      </p:pic>
      <p:sp>
        <p:nvSpPr>
          <p:cNvPr id="2" name="Title 1">
            <a:extLst>
              <a:ext uri="{FF2B5EF4-FFF2-40B4-BE49-F238E27FC236}">
                <a16:creationId xmlns:a16="http://schemas.microsoft.com/office/drawing/2014/main" id="{A4911D00-09B3-E556-14D1-500B5C16D5D2}"/>
              </a:ext>
            </a:extLst>
          </p:cNvPr>
          <p:cNvSpPr>
            <a:spLocks noGrp="1"/>
          </p:cNvSpPr>
          <p:nvPr>
            <p:ph type="title"/>
          </p:nvPr>
        </p:nvSpPr>
        <p:spPr/>
        <p:txBody>
          <a:bodyPr/>
          <a:lstStyle/>
          <a:p>
            <a:r>
              <a:rPr lang="en-US" b="1" dirty="0">
                <a:solidFill>
                  <a:srgbClr val="2B67A1"/>
                </a:solidFill>
              </a:rPr>
              <a:t>Thank You!</a:t>
            </a:r>
          </a:p>
        </p:txBody>
      </p:sp>
      <p:pic>
        <p:nvPicPr>
          <p:cNvPr id="8" name="Picture 7">
            <a:extLst>
              <a:ext uri="{FF2B5EF4-FFF2-40B4-BE49-F238E27FC236}">
                <a16:creationId xmlns:a16="http://schemas.microsoft.com/office/drawing/2014/main" id="{58EDB7CC-6E2C-A4C2-9CEA-3D07022D4920}"/>
              </a:ext>
            </a:extLst>
          </p:cNvPr>
          <p:cNvPicPr>
            <a:picLocks noChangeAspect="1"/>
          </p:cNvPicPr>
          <p:nvPr/>
        </p:nvPicPr>
        <p:blipFill>
          <a:blip r:embed="rId4"/>
          <a:stretch>
            <a:fillRect/>
          </a:stretch>
        </p:blipFill>
        <p:spPr>
          <a:xfrm>
            <a:off x="7566518" y="5092472"/>
            <a:ext cx="4014091" cy="1325564"/>
          </a:xfrm>
          <a:prstGeom prst="rect">
            <a:avLst/>
          </a:prstGeom>
        </p:spPr>
      </p:pic>
    </p:spTree>
    <p:extLst>
      <p:ext uri="{BB962C8B-B14F-4D97-AF65-F5344CB8AC3E}">
        <p14:creationId xmlns:p14="http://schemas.microsoft.com/office/powerpoint/2010/main" val="649586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63D7E-9CA9-B6F8-EEE4-8D08F3B6C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35DF8-F62C-A364-A396-B24ED36A7A74}"/>
              </a:ext>
            </a:extLst>
          </p:cNvPr>
          <p:cNvSpPr>
            <a:spLocks noGrp="1"/>
          </p:cNvSpPr>
          <p:nvPr>
            <p:ph type="title"/>
          </p:nvPr>
        </p:nvSpPr>
        <p:spPr>
          <a:xfrm>
            <a:off x="838200" y="-16715"/>
            <a:ext cx="10515600" cy="1325563"/>
          </a:xfrm>
        </p:spPr>
        <p:txBody>
          <a:bodyPr/>
          <a:lstStyle/>
          <a:p>
            <a:r>
              <a:rPr lang="en-US" b="1" dirty="0">
                <a:solidFill>
                  <a:srgbClr val="2B67A1"/>
                </a:solidFill>
              </a:rPr>
              <a:t>Other Feedback</a:t>
            </a:r>
          </a:p>
        </p:txBody>
      </p:sp>
      <p:sp>
        <p:nvSpPr>
          <p:cNvPr id="3" name="Content Placeholder 2">
            <a:extLst>
              <a:ext uri="{FF2B5EF4-FFF2-40B4-BE49-F238E27FC236}">
                <a16:creationId xmlns:a16="http://schemas.microsoft.com/office/drawing/2014/main" id="{2E80DED3-79B2-3FAB-EE67-4ECDE00A2179}"/>
              </a:ext>
            </a:extLst>
          </p:cNvPr>
          <p:cNvSpPr>
            <a:spLocks noGrp="1"/>
          </p:cNvSpPr>
          <p:nvPr>
            <p:ph idx="1"/>
          </p:nvPr>
        </p:nvSpPr>
        <p:spPr>
          <a:xfrm>
            <a:off x="838200" y="851648"/>
            <a:ext cx="11353800" cy="6205644"/>
          </a:xfrm>
        </p:spPr>
        <p:txBody>
          <a:bodyPr>
            <a:normAutofit fontScale="62500" lnSpcReduction="20000"/>
          </a:bodyPr>
          <a:lstStyle/>
          <a:p>
            <a:r>
              <a:rPr lang="en-US" dirty="0"/>
              <a:t>Abstract is too long. It would benefit from being more focused,</a:t>
            </a:r>
          </a:p>
          <a:p>
            <a:r>
              <a:rPr lang="en-US" dirty="0"/>
              <a:t>Both the abstract and conclusion would benefit from contain some numbers estimated from a key results.</a:t>
            </a:r>
          </a:p>
          <a:p>
            <a:r>
              <a:rPr lang="en-US" dirty="0"/>
              <a:t>Housing returns and uncertainty are two big topics of broadest interest to frame paper around</a:t>
            </a:r>
          </a:p>
          <a:p>
            <a:r>
              <a:rPr lang="en-US" dirty="0"/>
              <a:t>I did not find the theoretical framework informative. The idea is straightforward so could be described in a few lines. If you wanted something more rigorous, see the models in the seminal uncertainty papers (but not much gain to you doing so unless there’s some non-obvious direct tests you can map to data).</a:t>
            </a:r>
          </a:p>
          <a:p>
            <a:r>
              <a:rPr lang="en-US" dirty="0"/>
              <a:t>Data description is unclear. What years are covered? </a:t>
            </a:r>
          </a:p>
          <a:p>
            <a:r>
              <a:rPr lang="en-US" dirty="0"/>
              <a:t>Section 2.4, what it the third dimension?</a:t>
            </a:r>
          </a:p>
          <a:p>
            <a:r>
              <a:rPr lang="en-US" dirty="0"/>
              <a:t>What period covered in Table 1? How do I interpret units of economic uncertainty measure?</a:t>
            </a:r>
          </a:p>
          <a:p>
            <a:r>
              <a:rPr lang="en-US" dirty="0"/>
              <a:t>Table 2. I want to know how much time series variation there is to exploit in these measures. Is the variation informative or due to measurement error? Are there policy/demographic changes shifting this?</a:t>
            </a:r>
          </a:p>
          <a:p>
            <a:r>
              <a:rPr lang="en-US" dirty="0"/>
              <a:t>Section 3.1 would be useful to write that </a:t>
            </a:r>
            <a:r>
              <a:rPr lang="en-US" dirty="0" err="1"/>
              <a:t>X_i,t</a:t>
            </a:r>
            <a:r>
              <a:rPr lang="en-US" dirty="0"/>
              <a:t> are time-varying controls just to make this explicitly clear. The problem here is we worry about an endogenous control biasing estimates. This issue needs a brief discussion about the direction in which it may bias estimates.</a:t>
            </a:r>
          </a:p>
          <a:p>
            <a:r>
              <a:rPr lang="en-US" dirty="0"/>
              <a:t>Section 3.2 </a:t>
            </a:r>
            <a:r>
              <a:rPr lang="en-US" dirty="0" err="1"/>
              <a:t>Election_Exec_i,t</a:t>
            </a:r>
            <a:r>
              <a:rPr lang="en-US" dirty="0"/>
              <a:t>, in text but </a:t>
            </a:r>
            <a:r>
              <a:rPr lang="en-US" dirty="0" err="1"/>
              <a:t>Election_i,t</a:t>
            </a:r>
            <a:r>
              <a:rPr lang="en-US" dirty="0"/>
              <a:t> in equation 2. How many have presidential regimes? Any shifted to/from this over time may be better source of variation? Are you including non-presidential regime countries, if so you may want to drop these. See methods for other shocks in other uncertainty papers cited below.</a:t>
            </a:r>
          </a:p>
          <a:p>
            <a:r>
              <a:rPr lang="en-US" dirty="0"/>
              <a:t>Not clear if you are looking at real or nominal returns. Real returns would make most sense to me. I want to know the baseline means for these returns to evaluate how large these estimates are. This is especially important for the DID where few readers will know Turkish real estate returns! How do they compare to Jorda, Knoll, </a:t>
            </a:r>
            <a:r>
              <a:rPr lang="en-US" dirty="0" err="1"/>
              <a:t>Kuvshinov</a:t>
            </a:r>
            <a:r>
              <a:rPr lang="en-US" dirty="0"/>
              <a:t>,  </a:t>
            </a:r>
            <a:r>
              <a:rPr lang="en-US" dirty="0" err="1"/>
              <a:t>Schularick</a:t>
            </a:r>
            <a:r>
              <a:rPr lang="en-US" dirty="0"/>
              <a:t>, &amp; Taylor (2019 QJE) Chambers, </a:t>
            </a:r>
            <a:r>
              <a:rPr lang="en-US" dirty="0" err="1"/>
              <a:t>Spaenjers</a:t>
            </a:r>
            <a:r>
              <a:rPr lang="en-US" dirty="0"/>
              <a:t>, &amp; Steiner (2021 RFS)</a:t>
            </a:r>
          </a:p>
          <a:p>
            <a:r>
              <a:rPr lang="en-US" dirty="0"/>
              <a:t>Figure 1 is unclear and not referred to in the paper. What are the two panels? What are the two lines? Figure notes are vague and incorrectly refer to equation 4.</a:t>
            </a:r>
          </a:p>
        </p:txBody>
      </p:sp>
    </p:spTree>
    <p:extLst>
      <p:ext uri="{BB962C8B-B14F-4D97-AF65-F5344CB8AC3E}">
        <p14:creationId xmlns:p14="http://schemas.microsoft.com/office/powerpoint/2010/main" val="2644761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367</TotalTime>
  <Words>1405</Words>
  <Application>Microsoft Macintosh PowerPoint</Application>
  <PresentationFormat>Widescreen</PresentationFormat>
  <Paragraphs>114</Paragraphs>
  <Slides>18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Discussion of “Cultural Anchors and the Heterogenous Impact of Uncertainty on Housing Returns” – Dissanayake, Samarasinghe, Torgler &amp; Wu  Benedict Guttman-Kenney Rice University  14th December 2025 </vt:lpstr>
      <vt:lpstr>Paper Summary</vt:lpstr>
      <vt:lpstr>Paper Summary</vt:lpstr>
      <vt:lpstr>#1: Linking Two Big Topics</vt:lpstr>
      <vt:lpstr>Economic Policy Uncertainty Matters!</vt:lpstr>
      <vt:lpstr>Economic Policy Uncertainty Matters!</vt:lpstr>
      <vt:lpstr>“Housing Is the Business Cycle”     – Ed Leamer (2007)</vt:lpstr>
      <vt:lpstr>“Housing Is the Business Cycle”     – Ed Leamer (2007)</vt:lpstr>
      <vt:lpstr>“Housing Is the Business Cycle”     – Ed Leamer (2007)</vt:lpstr>
      <vt:lpstr>#2: Difference-in-Differences</vt:lpstr>
      <vt:lpstr>Sharpen Difference-in-Differences Analysis</vt:lpstr>
      <vt:lpstr>Sharpen Difference-in-Differences Analysis</vt:lpstr>
      <vt:lpstr>Sharpen Difference-in-Differences Analysis</vt:lpstr>
      <vt:lpstr>#3 Other Suggestions</vt:lpstr>
      <vt:lpstr>Cultural Anchors Or Heterogeneity</vt:lpstr>
      <vt:lpstr>Cultural Anchors Or Heterogeneity</vt:lpstr>
      <vt:lpstr>Thank You!</vt:lpstr>
      <vt:lpstr>Other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Benedict Guttman-Kenney</dc:creator>
  <cp:lastModifiedBy>Benedict Guttman-Kenney</cp:lastModifiedBy>
  <cp:revision>241</cp:revision>
  <dcterms:created xsi:type="dcterms:W3CDTF">2025-07-03T18:55:27Z</dcterms:created>
  <dcterms:modified xsi:type="dcterms:W3CDTF">2025-12-12T23:01:37Z</dcterms:modified>
</cp:coreProperties>
</file>