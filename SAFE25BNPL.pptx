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68" r:id="rId3"/>
    <p:sldId id="260" r:id="rId4"/>
    <p:sldId id="259" r:id="rId5"/>
    <p:sldId id="270" r:id="rId6"/>
    <p:sldId id="264" r:id="rId7"/>
    <p:sldId id="262" r:id="rId8"/>
    <p:sldId id="258" r:id="rId9"/>
    <p:sldId id="272" r:id="rId10"/>
    <p:sldId id="257" r:id="rId11"/>
    <p:sldId id="269" r:id="rId12"/>
    <p:sldId id="263" r:id="rId13"/>
    <p:sldId id="266" r:id="rId14"/>
    <p:sldId id="271" r:id="rId15"/>
    <p:sldId id="273"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67A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62"/>
    <p:restoredTop sz="94737"/>
  </p:normalViewPr>
  <p:slideViewPr>
    <p:cSldViewPr snapToGrid="0" showGuides="1">
      <p:cViewPr>
        <p:scale>
          <a:sx n="100" d="100"/>
          <a:sy n="100" d="100"/>
        </p:scale>
        <p:origin x="944" y="4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377F8B-59AE-B14B-B98A-1A49968C0844}" type="datetimeFigureOut">
              <a:rPr lang="en-US" smtClean="0"/>
              <a:t>7/10/25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BE4EDF-5641-EB4D-9EF5-40BC8983DB24}" type="slidenum">
              <a:rPr lang="en-US" smtClean="0"/>
              <a:t>‹#›</a:t>
            </a:fld>
            <a:endParaRPr lang="en-US"/>
          </a:p>
        </p:txBody>
      </p:sp>
    </p:spTree>
    <p:extLst>
      <p:ext uri="{BB962C8B-B14F-4D97-AF65-F5344CB8AC3E}">
        <p14:creationId xmlns:p14="http://schemas.microsoft.com/office/powerpoint/2010/main" val="301881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BE4EDF-5641-EB4D-9EF5-40BC8983DB24}" type="slidenum">
              <a:rPr lang="en-US" smtClean="0"/>
              <a:t>1</a:t>
            </a:fld>
            <a:endParaRPr lang="en-US"/>
          </a:p>
        </p:txBody>
      </p:sp>
    </p:spTree>
    <p:extLst>
      <p:ext uri="{BB962C8B-B14F-4D97-AF65-F5344CB8AC3E}">
        <p14:creationId xmlns:p14="http://schemas.microsoft.com/office/powerpoint/2010/main" val="1798049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BE4EDF-5641-EB4D-9EF5-40BC8983DB24}" type="slidenum">
              <a:rPr lang="en-US" smtClean="0"/>
              <a:t>13</a:t>
            </a:fld>
            <a:endParaRPr lang="en-US"/>
          </a:p>
        </p:txBody>
      </p:sp>
    </p:spTree>
    <p:extLst>
      <p:ext uri="{BB962C8B-B14F-4D97-AF65-F5344CB8AC3E}">
        <p14:creationId xmlns:p14="http://schemas.microsoft.com/office/powerpoint/2010/main" val="3201364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099F9-D01C-3013-400A-51BED71473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B0D1B1-B295-CF55-5CC3-ACD69D4650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7CE671-014C-58A5-B77F-485389C9A456}"/>
              </a:ext>
            </a:extLst>
          </p:cNvPr>
          <p:cNvSpPr>
            <a:spLocks noGrp="1"/>
          </p:cNvSpPr>
          <p:nvPr>
            <p:ph type="dt" sz="half" idx="10"/>
          </p:nvPr>
        </p:nvSpPr>
        <p:spPr/>
        <p:txBody>
          <a:bodyPr/>
          <a:lstStyle/>
          <a:p>
            <a:fld id="{5B2F7B80-5592-494B-8609-3FCF308FD325}" type="datetimeFigureOut">
              <a:rPr lang="en-US" smtClean="0"/>
              <a:t>7/10/25</a:t>
            </a:fld>
            <a:endParaRPr lang="en-US"/>
          </a:p>
        </p:txBody>
      </p:sp>
      <p:sp>
        <p:nvSpPr>
          <p:cNvPr id="5" name="Footer Placeholder 4">
            <a:extLst>
              <a:ext uri="{FF2B5EF4-FFF2-40B4-BE49-F238E27FC236}">
                <a16:creationId xmlns:a16="http://schemas.microsoft.com/office/drawing/2014/main" id="{37F20529-C11D-1239-2FA6-CBBC5EF2AD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549D9E-CF69-01CE-6D51-40DD90C2668A}"/>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1735323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EAD98-8347-8E6A-5254-8C731D6EE7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B14B5C-1BE9-9709-4485-E1BC4E719F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202455-396B-4524-2B9B-4F1C83DAB431}"/>
              </a:ext>
            </a:extLst>
          </p:cNvPr>
          <p:cNvSpPr>
            <a:spLocks noGrp="1"/>
          </p:cNvSpPr>
          <p:nvPr>
            <p:ph type="dt" sz="half" idx="10"/>
          </p:nvPr>
        </p:nvSpPr>
        <p:spPr/>
        <p:txBody>
          <a:bodyPr/>
          <a:lstStyle/>
          <a:p>
            <a:fld id="{5B2F7B80-5592-494B-8609-3FCF308FD325}" type="datetimeFigureOut">
              <a:rPr lang="en-US" smtClean="0"/>
              <a:t>7/10/25</a:t>
            </a:fld>
            <a:endParaRPr lang="en-US"/>
          </a:p>
        </p:txBody>
      </p:sp>
      <p:sp>
        <p:nvSpPr>
          <p:cNvPr id="5" name="Footer Placeholder 4">
            <a:extLst>
              <a:ext uri="{FF2B5EF4-FFF2-40B4-BE49-F238E27FC236}">
                <a16:creationId xmlns:a16="http://schemas.microsoft.com/office/drawing/2014/main" id="{247D5B6E-032F-8FCF-39CA-1FAD13B2E1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6FC09F-FF71-C4EC-133B-448ABE1C9AF8}"/>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2572299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36209-771E-6C81-AF38-9E8B37CB63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5C72E4-D9A8-1C02-E42B-8E7D8EE526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A56109-7C38-24F7-443F-D7188C5527E4}"/>
              </a:ext>
            </a:extLst>
          </p:cNvPr>
          <p:cNvSpPr>
            <a:spLocks noGrp="1"/>
          </p:cNvSpPr>
          <p:nvPr>
            <p:ph type="dt" sz="half" idx="10"/>
          </p:nvPr>
        </p:nvSpPr>
        <p:spPr/>
        <p:txBody>
          <a:bodyPr/>
          <a:lstStyle/>
          <a:p>
            <a:fld id="{5B2F7B80-5592-494B-8609-3FCF308FD325}" type="datetimeFigureOut">
              <a:rPr lang="en-US" smtClean="0"/>
              <a:t>7/10/25</a:t>
            </a:fld>
            <a:endParaRPr lang="en-US"/>
          </a:p>
        </p:txBody>
      </p:sp>
      <p:sp>
        <p:nvSpPr>
          <p:cNvPr id="5" name="Footer Placeholder 4">
            <a:extLst>
              <a:ext uri="{FF2B5EF4-FFF2-40B4-BE49-F238E27FC236}">
                <a16:creationId xmlns:a16="http://schemas.microsoft.com/office/drawing/2014/main" id="{4F17CCB9-B911-6E34-3B93-C0F18EC615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9CE99F-44C6-D7B3-F5B4-399D35E20B50}"/>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3882331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50264-E574-967C-6AA1-998A2A668A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2E0AB2-EB8A-5172-6945-1E1A2E5DB1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0C4C97-250C-19AE-DDFE-DDB6289883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3415F5-16C5-8BE8-6A5A-C887E887A4A7}"/>
              </a:ext>
            </a:extLst>
          </p:cNvPr>
          <p:cNvSpPr>
            <a:spLocks noGrp="1"/>
          </p:cNvSpPr>
          <p:nvPr>
            <p:ph type="dt" sz="half" idx="10"/>
          </p:nvPr>
        </p:nvSpPr>
        <p:spPr/>
        <p:txBody>
          <a:bodyPr/>
          <a:lstStyle/>
          <a:p>
            <a:fld id="{5B2F7B80-5592-494B-8609-3FCF308FD325}" type="datetimeFigureOut">
              <a:rPr lang="en-US" smtClean="0"/>
              <a:t>7/10/25</a:t>
            </a:fld>
            <a:endParaRPr lang="en-US"/>
          </a:p>
        </p:txBody>
      </p:sp>
      <p:sp>
        <p:nvSpPr>
          <p:cNvPr id="6" name="Footer Placeholder 5">
            <a:extLst>
              <a:ext uri="{FF2B5EF4-FFF2-40B4-BE49-F238E27FC236}">
                <a16:creationId xmlns:a16="http://schemas.microsoft.com/office/drawing/2014/main" id="{6C0ED989-1888-E819-FF52-939E26E2F9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53601D-1A92-FCC5-3BAA-154C351FF59F}"/>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2375905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3E85C-F163-5CC3-4030-338BC7015D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D49E19-437D-D8D0-478B-7B9D1D9048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CD4801-A40C-DA32-A75A-847B83AF13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18A162-86ED-0291-7E16-788741EFB2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5F05F2-970D-172D-F617-4F841D2E71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42E4C9A-C349-CFB6-5D1C-4FA10C56945F}"/>
              </a:ext>
            </a:extLst>
          </p:cNvPr>
          <p:cNvSpPr>
            <a:spLocks noGrp="1"/>
          </p:cNvSpPr>
          <p:nvPr>
            <p:ph type="dt" sz="half" idx="10"/>
          </p:nvPr>
        </p:nvSpPr>
        <p:spPr/>
        <p:txBody>
          <a:bodyPr/>
          <a:lstStyle/>
          <a:p>
            <a:fld id="{5B2F7B80-5592-494B-8609-3FCF308FD325}" type="datetimeFigureOut">
              <a:rPr lang="en-US" smtClean="0"/>
              <a:t>7/10/25</a:t>
            </a:fld>
            <a:endParaRPr lang="en-US"/>
          </a:p>
        </p:txBody>
      </p:sp>
      <p:sp>
        <p:nvSpPr>
          <p:cNvPr id="8" name="Footer Placeholder 7">
            <a:extLst>
              <a:ext uri="{FF2B5EF4-FFF2-40B4-BE49-F238E27FC236}">
                <a16:creationId xmlns:a16="http://schemas.microsoft.com/office/drawing/2014/main" id="{E8C546DE-8102-4FD5-143D-2BA088B9ED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6B807D-9D8E-ECF8-444C-FF983276F0C5}"/>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4040545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BED8C-200B-6DA4-D2B0-9C8CDDDB96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CF3564-A0DF-BE0A-37D2-5B60FE3B38D6}"/>
              </a:ext>
            </a:extLst>
          </p:cNvPr>
          <p:cNvSpPr>
            <a:spLocks noGrp="1"/>
          </p:cNvSpPr>
          <p:nvPr>
            <p:ph type="dt" sz="half" idx="10"/>
          </p:nvPr>
        </p:nvSpPr>
        <p:spPr/>
        <p:txBody>
          <a:bodyPr/>
          <a:lstStyle/>
          <a:p>
            <a:fld id="{5B2F7B80-5592-494B-8609-3FCF308FD325}" type="datetimeFigureOut">
              <a:rPr lang="en-US" smtClean="0"/>
              <a:t>7/10/25</a:t>
            </a:fld>
            <a:endParaRPr lang="en-US"/>
          </a:p>
        </p:txBody>
      </p:sp>
      <p:sp>
        <p:nvSpPr>
          <p:cNvPr id="4" name="Footer Placeholder 3">
            <a:extLst>
              <a:ext uri="{FF2B5EF4-FFF2-40B4-BE49-F238E27FC236}">
                <a16:creationId xmlns:a16="http://schemas.microsoft.com/office/drawing/2014/main" id="{FE309875-C16C-3AE8-B03F-1887E9FB51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A523449-20DC-C657-1376-B4FC2B0FC965}"/>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3887806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4BD70-CEBC-699D-AB48-D6FC51BC8626}"/>
              </a:ext>
            </a:extLst>
          </p:cNvPr>
          <p:cNvSpPr>
            <a:spLocks noGrp="1"/>
          </p:cNvSpPr>
          <p:nvPr>
            <p:ph type="dt" sz="half" idx="10"/>
          </p:nvPr>
        </p:nvSpPr>
        <p:spPr/>
        <p:txBody>
          <a:bodyPr/>
          <a:lstStyle/>
          <a:p>
            <a:fld id="{5B2F7B80-5592-494B-8609-3FCF308FD325}" type="datetimeFigureOut">
              <a:rPr lang="en-US" smtClean="0"/>
              <a:t>7/10/25</a:t>
            </a:fld>
            <a:endParaRPr lang="en-US"/>
          </a:p>
        </p:txBody>
      </p:sp>
      <p:sp>
        <p:nvSpPr>
          <p:cNvPr id="3" name="Footer Placeholder 2">
            <a:extLst>
              <a:ext uri="{FF2B5EF4-FFF2-40B4-BE49-F238E27FC236}">
                <a16:creationId xmlns:a16="http://schemas.microsoft.com/office/drawing/2014/main" id="{46DD86DC-98D4-1B21-C0C8-493DFD73CC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02DA16-2384-DE94-BBB1-97ADE8A8FAD8}"/>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2881600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98C0B-8714-3A62-2CC2-BAE80EA1FE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FB5E60-698E-E673-7FE2-F72120A220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271B23-BD76-EA2B-1B18-CA6E6D4128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85B908-93F0-9D12-87BA-046616AB5C88}"/>
              </a:ext>
            </a:extLst>
          </p:cNvPr>
          <p:cNvSpPr>
            <a:spLocks noGrp="1"/>
          </p:cNvSpPr>
          <p:nvPr>
            <p:ph type="dt" sz="half" idx="10"/>
          </p:nvPr>
        </p:nvSpPr>
        <p:spPr/>
        <p:txBody>
          <a:bodyPr/>
          <a:lstStyle/>
          <a:p>
            <a:fld id="{5B2F7B80-5592-494B-8609-3FCF308FD325}" type="datetimeFigureOut">
              <a:rPr lang="en-US" smtClean="0"/>
              <a:t>7/10/25</a:t>
            </a:fld>
            <a:endParaRPr lang="en-US"/>
          </a:p>
        </p:txBody>
      </p:sp>
      <p:sp>
        <p:nvSpPr>
          <p:cNvPr id="6" name="Footer Placeholder 5">
            <a:extLst>
              <a:ext uri="{FF2B5EF4-FFF2-40B4-BE49-F238E27FC236}">
                <a16:creationId xmlns:a16="http://schemas.microsoft.com/office/drawing/2014/main" id="{559D122A-FAA8-D2F2-D412-CB19E35A4D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350C7D-6D6E-51A4-C249-AB6D7B5A3E14}"/>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3493726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2B4BD-9E72-49A6-00C0-3E46602507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2837C49-6D4D-6DAF-7888-2ED4FD83A1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C44E17-70DE-F3AE-ED83-2CB9728DD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C73271-8285-39EF-B5B4-CC2B6AA9562A}"/>
              </a:ext>
            </a:extLst>
          </p:cNvPr>
          <p:cNvSpPr>
            <a:spLocks noGrp="1"/>
          </p:cNvSpPr>
          <p:nvPr>
            <p:ph type="dt" sz="half" idx="10"/>
          </p:nvPr>
        </p:nvSpPr>
        <p:spPr/>
        <p:txBody>
          <a:bodyPr/>
          <a:lstStyle/>
          <a:p>
            <a:fld id="{5B2F7B80-5592-494B-8609-3FCF308FD325}" type="datetimeFigureOut">
              <a:rPr lang="en-US" smtClean="0"/>
              <a:t>7/10/25</a:t>
            </a:fld>
            <a:endParaRPr lang="en-US"/>
          </a:p>
        </p:txBody>
      </p:sp>
      <p:sp>
        <p:nvSpPr>
          <p:cNvPr id="6" name="Footer Placeholder 5">
            <a:extLst>
              <a:ext uri="{FF2B5EF4-FFF2-40B4-BE49-F238E27FC236}">
                <a16:creationId xmlns:a16="http://schemas.microsoft.com/office/drawing/2014/main" id="{07605A4D-EAFA-986D-0691-FF21CC71C1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80B701-15E5-7689-F6B7-A88C3FB2CF1A}"/>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162336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A1525-6904-D81B-0B89-D7B2D0CFC7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CF6857F-B6C0-E67B-0CCF-E1F6F755DD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A30CB-FAD4-33D9-08B0-E28E5F506D71}"/>
              </a:ext>
            </a:extLst>
          </p:cNvPr>
          <p:cNvSpPr>
            <a:spLocks noGrp="1"/>
          </p:cNvSpPr>
          <p:nvPr>
            <p:ph type="dt" sz="half" idx="10"/>
          </p:nvPr>
        </p:nvSpPr>
        <p:spPr/>
        <p:txBody>
          <a:bodyPr/>
          <a:lstStyle/>
          <a:p>
            <a:fld id="{5B2F7B80-5592-494B-8609-3FCF308FD325}" type="datetimeFigureOut">
              <a:rPr lang="en-US" smtClean="0"/>
              <a:t>7/10/25</a:t>
            </a:fld>
            <a:endParaRPr lang="en-US"/>
          </a:p>
        </p:txBody>
      </p:sp>
      <p:sp>
        <p:nvSpPr>
          <p:cNvPr id="5" name="Footer Placeholder 4">
            <a:extLst>
              <a:ext uri="{FF2B5EF4-FFF2-40B4-BE49-F238E27FC236}">
                <a16:creationId xmlns:a16="http://schemas.microsoft.com/office/drawing/2014/main" id="{8B6B9BE7-0918-516F-B8C3-5BFDEC3387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56C8F1-B5A7-E110-24B5-8679E60B07F7}"/>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2231499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3FAF8C-76FE-0C3B-29FA-EB5F035508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00931B-BC7E-AC3F-CB36-3D639233DA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EBEC40-298C-2F69-D91C-DE8BB20A0163}"/>
              </a:ext>
            </a:extLst>
          </p:cNvPr>
          <p:cNvSpPr>
            <a:spLocks noGrp="1"/>
          </p:cNvSpPr>
          <p:nvPr>
            <p:ph type="dt" sz="half" idx="10"/>
          </p:nvPr>
        </p:nvSpPr>
        <p:spPr/>
        <p:txBody>
          <a:bodyPr/>
          <a:lstStyle/>
          <a:p>
            <a:fld id="{5B2F7B80-5592-494B-8609-3FCF308FD325}" type="datetimeFigureOut">
              <a:rPr lang="en-US" smtClean="0"/>
              <a:t>7/10/25</a:t>
            </a:fld>
            <a:endParaRPr lang="en-US"/>
          </a:p>
        </p:txBody>
      </p:sp>
      <p:sp>
        <p:nvSpPr>
          <p:cNvPr id="5" name="Footer Placeholder 4">
            <a:extLst>
              <a:ext uri="{FF2B5EF4-FFF2-40B4-BE49-F238E27FC236}">
                <a16:creationId xmlns:a16="http://schemas.microsoft.com/office/drawing/2014/main" id="{BCF18455-82C1-FECA-5367-6722C836F9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C0FA75-1DD0-9E37-16BD-8C468CE4AD0D}"/>
              </a:ext>
            </a:extLst>
          </p:cNvPr>
          <p:cNvSpPr>
            <a:spLocks noGrp="1"/>
          </p:cNvSpPr>
          <p:nvPr>
            <p:ph type="sldNum" sz="quarter" idx="12"/>
          </p:nvPr>
        </p:nvSpPr>
        <p:spPr/>
        <p:txBody>
          <a:bodyPr/>
          <a:lstStyle/>
          <a:p>
            <a:fld id="{1A3F5638-16F2-F741-A991-238AAF58F989}" type="slidenum">
              <a:rPr lang="en-US" smtClean="0"/>
              <a:t>‹#›</a:t>
            </a:fld>
            <a:endParaRPr lang="en-US"/>
          </a:p>
        </p:txBody>
      </p:sp>
    </p:spTree>
    <p:extLst>
      <p:ext uri="{BB962C8B-B14F-4D97-AF65-F5344CB8AC3E}">
        <p14:creationId xmlns:p14="http://schemas.microsoft.com/office/powerpoint/2010/main" val="628703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4C6B88-CB2F-3200-739E-8B74881DDB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25B67F-75B5-165C-94BC-78417EF891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52182F-E3B9-0943-6F67-4678AF47BC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2F7B80-5592-494B-8609-3FCF308FD325}" type="datetimeFigureOut">
              <a:rPr lang="en-US" smtClean="0"/>
              <a:t>7/10/25</a:t>
            </a:fld>
            <a:endParaRPr lang="en-US"/>
          </a:p>
        </p:txBody>
      </p:sp>
      <p:sp>
        <p:nvSpPr>
          <p:cNvPr id="5" name="Footer Placeholder 4">
            <a:extLst>
              <a:ext uri="{FF2B5EF4-FFF2-40B4-BE49-F238E27FC236}">
                <a16:creationId xmlns:a16="http://schemas.microsoft.com/office/drawing/2014/main" id="{65211A8F-45FF-60F3-04E0-169CC27A9A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909CDC-5B83-7A55-FB52-9150D0888A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3F5638-16F2-F741-A991-238AAF58F989}" type="slidenum">
              <a:rPr lang="en-US" smtClean="0"/>
              <a:t>‹#›</a:t>
            </a:fld>
            <a:endParaRPr lang="en-US"/>
          </a:p>
        </p:txBody>
      </p:sp>
    </p:spTree>
    <p:extLst>
      <p:ext uri="{BB962C8B-B14F-4D97-AF65-F5344CB8AC3E}">
        <p14:creationId xmlns:p14="http://schemas.microsoft.com/office/powerpoint/2010/main" val="747399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67A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F6728-E1EE-9E9B-6461-ABFA23930924}"/>
              </a:ext>
            </a:extLst>
          </p:cNvPr>
          <p:cNvSpPr>
            <a:spLocks noGrp="1"/>
          </p:cNvSpPr>
          <p:nvPr>
            <p:ph type="ctrTitle"/>
          </p:nvPr>
        </p:nvSpPr>
        <p:spPr>
          <a:xfrm>
            <a:off x="609600" y="697423"/>
            <a:ext cx="11582400" cy="5470902"/>
          </a:xfrm>
        </p:spPr>
        <p:txBody>
          <a:bodyPr>
            <a:normAutofit fontScale="90000"/>
          </a:bodyPr>
          <a:lstStyle/>
          <a:p>
            <a:pPr algn="l"/>
            <a:r>
              <a:rPr lang="en-US" sz="4800" b="1" dirty="0">
                <a:solidFill>
                  <a:schemeClr val="bg1"/>
                </a:solidFill>
              </a:rPr>
              <a:t>Discussion of </a:t>
            </a:r>
            <a:br>
              <a:rPr lang="en-US" sz="4800" b="1" dirty="0">
                <a:solidFill>
                  <a:schemeClr val="bg1"/>
                </a:solidFill>
              </a:rPr>
            </a:br>
            <a:r>
              <a:rPr lang="en-US" sz="4800" b="1" dirty="0">
                <a:solidFill>
                  <a:schemeClr val="bg1"/>
                </a:solidFill>
              </a:rPr>
              <a:t>“Buy Now Pay (Less) Later: Leveraging Private BNPL Data in Consumer Banking” </a:t>
            </a:r>
            <a:br>
              <a:rPr lang="en-US" sz="4800" b="1" dirty="0">
                <a:solidFill>
                  <a:schemeClr val="bg1"/>
                </a:solidFill>
              </a:rPr>
            </a:br>
            <a:r>
              <a:rPr lang="en-US" sz="4800" b="1" dirty="0">
                <a:solidFill>
                  <a:schemeClr val="bg1"/>
                </a:solidFill>
              </a:rPr>
              <a:t>- Laudenbach, Molin, </a:t>
            </a:r>
            <a:r>
              <a:rPr lang="en-US" sz="4800" b="1" dirty="0" err="1">
                <a:solidFill>
                  <a:schemeClr val="bg1"/>
                </a:solidFill>
              </a:rPr>
              <a:t>Roszbach</a:t>
            </a:r>
            <a:r>
              <a:rPr lang="en-US" sz="4800" b="1" dirty="0">
                <a:solidFill>
                  <a:schemeClr val="bg1"/>
                </a:solidFill>
              </a:rPr>
              <a:t>, &amp; </a:t>
            </a:r>
            <a:r>
              <a:rPr lang="en-US" sz="4800" b="1" dirty="0" err="1">
                <a:solidFill>
                  <a:schemeClr val="bg1"/>
                </a:solidFill>
              </a:rPr>
              <a:t>Sondershaus</a:t>
            </a:r>
            <a:br>
              <a:rPr lang="en-US" sz="4800" b="1" dirty="0">
                <a:solidFill>
                  <a:schemeClr val="bg1"/>
                </a:solidFill>
              </a:rPr>
            </a:br>
            <a:br>
              <a:rPr lang="en-US" sz="4800" b="1" dirty="0">
                <a:solidFill>
                  <a:schemeClr val="bg1"/>
                </a:solidFill>
              </a:rPr>
            </a:br>
            <a:r>
              <a:rPr lang="en-US" sz="4800" b="1" dirty="0">
                <a:solidFill>
                  <a:schemeClr val="bg1"/>
                </a:solidFill>
              </a:rPr>
              <a:t>Benedict Guttman-Kenney</a:t>
            </a:r>
            <a:br>
              <a:rPr lang="en-US" sz="4800" b="1" dirty="0">
                <a:solidFill>
                  <a:schemeClr val="bg1"/>
                </a:solidFill>
              </a:rPr>
            </a:br>
            <a:r>
              <a:rPr lang="en-US" sz="4800" dirty="0">
                <a:solidFill>
                  <a:schemeClr val="bg1"/>
                </a:solidFill>
              </a:rPr>
              <a:t>Rice University</a:t>
            </a:r>
            <a:br>
              <a:rPr lang="en-US" sz="4800" dirty="0">
                <a:solidFill>
                  <a:schemeClr val="bg1"/>
                </a:solidFill>
              </a:rPr>
            </a:br>
            <a:br>
              <a:rPr lang="en-US" sz="4800" dirty="0">
                <a:solidFill>
                  <a:schemeClr val="bg1"/>
                </a:solidFill>
              </a:rPr>
            </a:br>
            <a:r>
              <a:rPr lang="en-US" sz="3600" dirty="0">
                <a:solidFill>
                  <a:schemeClr val="bg1"/>
                </a:solidFill>
              </a:rPr>
              <a:t>10 July 2025</a:t>
            </a:r>
            <a:r>
              <a:rPr lang="en-US" sz="4800" dirty="0">
                <a:solidFill>
                  <a:schemeClr val="bg1"/>
                </a:solidFill>
              </a:rPr>
              <a:t> </a:t>
            </a:r>
          </a:p>
        </p:txBody>
      </p:sp>
      <p:pic>
        <p:nvPicPr>
          <p:cNvPr id="9" name="Picture 8" descr="A black and white logo&#10;&#10;AI-generated content may be incorrect.">
            <a:extLst>
              <a:ext uri="{FF2B5EF4-FFF2-40B4-BE49-F238E27FC236}">
                <a16:creationId xmlns:a16="http://schemas.microsoft.com/office/drawing/2014/main" id="{12A791D7-715C-8263-1D9F-6306622D6C1C}"/>
              </a:ext>
            </a:extLst>
          </p:cNvPr>
          <p:cNvPicPr>
            <a:picLocks noChangeAspect="1"/>
          </p:cNvPicPr>
          <p:nvPr/>
        </p:nvPicPr>
        <p:blipFill>
          <a:blip r:embed="rId3"/>
          <a:stretch>
            <a:fillRect/>
          </a:stretch>
        </p:blipFill>
        <p:spPr>
          <a:xfrm>
            <a:off x="7358175" y="4774330"/>
            <a:ext cx="4224227" cy="1393995"/>
          </a:xfrm>
          <a:prstGeom prst="rect">
            <a:avLst/>
          </a:prstGeom>
        </p:spPr>
      </p:pic>
    </p:spTree>
    <p:extLst>
      <p:ext uri="{BB962C8B-B14F-4D97-AF65-F5344CB8AC3E}">
        <p14:creationId xmlns:p14="http://schemas.microsoft.com/office/powerpoint/2010/main" val="4096960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68445-904B-5C13-1C8E-887BE0FB6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7CC32A-8629-8335-2969-56573EC95DBD}"/>
              </a:ext>
            </a:extLst>
          </p:cNvPr>
          <p:cNvSpPr>
            <a:spLocks noGrp="1"/>
          </p:cNvSpPr>
          <p:nvPr>
            <p:ph type="title"/>
          </p:nvPr>
        </p:nvSpPr>
        <p:spPr>
          <a:xfrm>
            <a:off x="838200" y="365125"/>
            <a:ext cx="11467454" cy="1325563"/>
          </a:xfrm>
        </p:spPr>
        <p:txBody>
          <a:bodyPr>
            <a:noAutofit/>
          </a:bodyPr>
          <a:lstStyle/>
          <a:p>
            <a:r>
              <a:rPr lang="en-US" sz="3600" b="1" dirty="0">
                <a:solidFill>
                  <a:srgbClr val="2B67A1"/>
                </a:solidFill>
              </a:rPr>
              <a:t>What This Paper Does: </a:t>
            </a:r>
            <a:r>
              <a:rPr lang="en-US" sz="3600" b="1" dirty="0"/>
              <a:t>How Does Observing BNPL Information Affect A Bank’s Non-BNPL Lending?</a:t>
            </a:r>
            <a:endParaRPr lang="en-US" sz="3600" b="1" dirty="0">
              <a:solidFill>
                <a:srgbClr val="2B67A1"/>
              </a:solidFill>
            </a:endParaRPr>
          </a:p>
        </p:txBody>
      </p:sp>
      <p:sp>
        <p:nvSpPr>
          <p:cNvPr id="3" name="Content Placeholder 2">
            <a:extLst>
              <a:ext uri="{FF2B5EF4-FFF2-40B4-BE49-F238E27FC236}">
                <a16:creationId xmlns:a16="http://schemas.microsoft.com/office/drawing/2014/main" id="{2CDC6474-1933-9F9F-F9C2-DC48F9F2989C}"/>
              </a:ext>
            </a:extLst>
          </p:cNvPr>
          <p:cNvSpPr>
            <a:spLocks noGrp="1"/>
          </p:cNvSpPr>
          <p:nvPr>
            <p:ph idx="1"/>
          </p:nvPr>
        </p:nvSpPr>
        <p:spPr>
          <a:xfrm>
            <a:off x="838200" y="1580828"/>
            <a:ext cx="11353800" cy="5145436"/>
          </a:xfrm>
        </p:spPr>
        <p:txBody>
          <a:bodyPr>
            <a:normAutofit/>
          </a:bodyPr>
          <a:lstStyle/>
          <a:p>
            <a:pPr marL="0" indent="0">
              <a:buNone/>
            </a:pPr>
            <a:r>
              <a:rPr lang="en-US" b="1" dirty="0"/>
              <a:t>Nordic Bank Data</a:t>
            </a:r>
          </a:p>
          <a:p>
            <a:r>
              <a:rPr lang="en-US" dirty="0"/>
              <a:t>Consumer loan applications, credit scores (internal &amp; external), contracts, and repayments, &amp; BNPL with bank</a:t>
            </a:r>
          </a:p>
          <a:p>
            <a:r>
              <a:rPr lang="en-US" dirty="0"/>
              <a:t>Compare consumers with recent vs. non-recent BNPL use with bank</a:t>
            </a:r>
          </a:p>
          <a:p>
            <a:pPr marL="0" indent="0">
              <a:buNone/>
            </a:pPr>
            <a:r>
              <a:rPr lang="en-US" b="1" dirty="0"/>
              <a:t>Key Results</a:t>
            </a:r>
          </a:p>
          <a:p>
            <a:r>
              <a:rPr lang="en-US" dirty="0"/>
              <a:t>Recent BNPL use with bank is an informative signal of credit risk,       used by bank to price discriminate consumer loans</a:t>
            </a:r>
          </a:p>
          <a:p>
            <a:r>
              <a:rPr lang="en-US" dirty="0"/>
              <a:t>(Recent) BNPL users have: </a:t>
            </a:r>
            <a:r>
              <a:rPr lang="en-US" dirty="0" err="1"/>
              <a:t>Pr</a:t>
            </a:r>
            <a:r>
              <a:rPr lang="en-US" dirty="0"/>
              <a:t>(approved) ⬆️, interest rate ⬇️, default  ⬇️</a:t>
            </a:r>
          </a:p>
          <a:p>
            <a:r>
              <a:rPr lang="en-US" dirty="0"/>
              <a:t>⬆️ credit access through learning (to repay via BNPL)</a:t>
            </a:r>
          </a:p>
          <a:p>
            <a:pPr marL="0" indent="0">
              <a:buNone/>
            </a:pPr>
            <a:endParaRPr lang="en-US" dirty="0"/>
          </a:p>
        </p:txBody>
      </p:sp>
    </p:spTree>
    <p:extLst>
      <p:ext uri="{BB962C8B-B14F-4D97-AF65-F5344CB8AC3E}">
        <p14:creationId xmlns:p14="http://schemas.microsoft.com/office/powerpoint/2010/main" val="3864387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B67A1"/>
        </a:solidFill>
        <a:effectLst/>
      </p:bgPr>
    </p:bg>
    <p:spTree>
      <p:nvGrpSpPr>
        <p:cNvPr id="1" name="">
          <a:extLst>
            <a:ext uri="{FF2B5EF4-FFF2-40B4-BE49-F238E27FC236}">
              <a16:creationId xmlns:a16="http://schemas.microsoft.com/office/drawing/2014/main" id="{9A99E06A-98C8-8C68-5D6B-35CECEE5F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CD8BC0-DC78-1510-ED8C-5DCA46FEFD99}"/>
              </a:ext>
            </a:extLst>
          </p:cNvPr>
          <p:cNvSpPr>
            <a:spLocks noGrp="1"/>
          </p:cNvSpPr>
          <p:nvPr>
            <p:ph type="ctrTitle"/>
          </p:nvPr>
        </p:nvSpPr>
        <p:spPr/>
        <p:txBody>
          <a:bodyPr/>
          <a:lstStyle/>
          <a:p>
            <a:r>
              <a:rPr lang="en-US" b="1" dirty="0">
                <a:solidFill>
                  <a:schemeClr val="bg1"/>
                </a:solidFill>
              </a:rPr>
              <a:t>#1: Identification</a:t>
            </a:r>
          </a:p>
        </p:txBody>
      </p:sp>
      <p:sp>
        <p:nvSpPr>
          <p:cNvPr id="3" name="Subtitle 2">
            <a:extLst>
              <a:ext uri="{FF2B5EF4-FFF2-40B4-BE49-F238E27FC236}">
                <a16:creationId xmlns:a16="http://schemas.microsoft.com/office/drawing/2014/main" id="{03154BF3-5030-9AFA-C50C-81651DE9FA2E}"/>
              </a:ext>
            </a:extLst>
          </p:cNvPr>
          <p:cNvSpPr>
            <a:spLocks noGrp="1"/>
          </p:cNvSpPr>
          <p:nvPr>
            <p:ph type="subTitle" idx="1"/>
          </p:nvPr>
        </p:nvSpPr>
        <p:spPr/>
        <p:txBody>
          <a:bodyPr/>
          <a:lstStyle/>
          <a:p>
            <a:endParaRPr lang="en-US" dirty="0">
              <a:solidFill>
                <a:schemeClr val="bg1"/>
              </a:solidFill>
            </a:endParaRPr>
          </a:p>
        </p:txBody>
      </p:sp>
    </p:spTree>
    <p:extLst>
      <p:ext uri="{BB962C8B-B14F-4D97-AF65-F5344CB8AC3E}">
        <p14:creationId xmlns:p14="http://schemas.microsoft.com/office/powerpoint/2010/main" val="2331681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DD5C7-2221-BF67-6154-5ECDF6142C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9FD8D-999B-D163-79DF-78E360241429}"/>
              </a:ext>
            </a:extLst>
          </p:cNvPr>
          <p:cNvSpPr>
            <a:spLocks noGrp="1"/>
          </p:cNvSpPr>
          <p:nvPr>
            <p:ph type="title"/>
          </p:nvPr>
        </p:nvSpPr>
        <p:spPr>
          <a:xfrm>
            <a:off x="838200" y="365125"/>
            <a:ext cx="11353800" cy="1325563"/>
          </a:xfrm>
        </p:spPr>
        <p:txBody>
          <a:bodyPr>
            <a:normAutofit/>
          </a:bodyPr>
          <a:lstStyle/>
          <a:p>
            <a:r>
              <a:rPr lang="en-US" sz="3600" b="1" dirty="0">
                <a:solidFill>
                  <a:srgbClr val="2B67A1"/>
                </a:solidFill>
              </a:rPr>
              <a:t>Effects of BNPL Usage In This Paper Apply To A Small Subset Of Consumers (Average Age ~50)</a:t>
            </a:r>
          </a:p>
        </p:txBody>
      </p:sp>
      <p:sp>
        <p:nvSpPr>
          <p:cNvPr id="3" name="Content Placeholder 2">
            <a:extLst>
              <a:ext uri="{FF2B5EF4-FFF2-40B4-BE49-F238E27FC236}">
                <a16:creationId xmlns:a16="http://schemas.microsoft.com/office/drawing/2014/main" id="{A6808339-60D8-C641-0049-E6A28EF61811}"/>
              </a:ext>
            </a:extLst>
          </p:cNvPr>
          <p:cNvSpPr>
            <a:spLocks noGrp="1"/>
          </p:cNvSpPr>
          <p:nvPr>
            <p:ph idx="1"/>
          </p:nvPr>
        </p:nvSpPr>
        <p:spPr>
          <a:xfrm>
            <a:off x="838199" y="1544320"/>
            <a:ext cx="11498943" cy="5313679"/>
          </a:xfrm>
        </p:spPr>
        <p:txBody>
          <a:bodyPr>
            <a:normAutofit/>
          </a:bodyPr>
          <a:lstStyle/>
          <a:p>
            <a:r>
              <a:rPr lang="en-US" sz="2200" dirty="0"/>
              <a:t>In US, 12-21% consumers used BNPL in 2022 &amp; average ages &lt; 35</a:t>
            </a:r>
          </a:p>
          <a:p>
            <a:pPr marL="0" indent="0">
              <a:buNone/>
            </a:pPr>
            <a:r>
              <a:rPr lang="en-US" sz="2200" dirty="0">
                <a:solidFill>
                  <a:schemeClr val="bg1">
                    <a:lumMod val="50000"/>
                  </a:schemeClr>
                </a:solidFill>
              </a:rPr>
              <a:t>  (Federal Reserve, 2024; Consumer Financial Protection Bureau, 2025)</a:t>
            </a:r>
          </a:p>
          <a:p>
            <a:r>
              <a:rPr lang="en-US" sz="2200" dirty="0"/>
              <a:t> In Denmark/Norway/Sweden, 18-24% consumers use BNPL</a:t>
            </a:r>
            <a:endParaRPr lang="en-US" sz="2200" b="1" dirty="0"/>
          </a:p>
        </p:txBody>
      </p:sp>
      <p:graphicFrame>
        <p:nvGraphicFramePr>
          <p:cNvPr id="4" name="Table 3">
            <a:extLst>
              <a:ext uri="{FF2B5EF4-FFF2-40B4-BE49-F238E27FC236}">
                <a16:creationId xmlns:a16="http://schemas.microsoft.com/office/drawing/2014/main" id="{99B0F400-4A32-58D4-0D5B-62E215621928}"/>
              </a:ext>
            </a:extLst>
          </p:cNvPr>
          <p:cNvGraphicFramePr>
            <a:graphicFrameLocks noGrp="1"/>
          </p:cNvGraphicFramePr>
          <p:nvPr>
            <p:extLst>
              <p:ext uri="{D42A27DB-BD31-4B8C-83A1-F6EECF244321}">
                <p14:modId xmlns:p14="http://schemas.microsoft.com/office/powerpoint/2010/main" val="724621158"/>
              </p:ext>
            </p:extLst>
          </p:nvPr>
        </p:nvGraphicFramePr>
        <p:xfrm>
          <a:off x="0" y="2754554"/>
          <a:ext cx="12192000" cy="4103444"/>
        </p:xfrm>
        <a:graphic>
          <a:graphicData uri="http://schemas.openxmlformats.org/drawingml/2006/table">
            <a:tbl>
              <a:tblPr firstRow="1" bandRow="1">
                <a:tableStyleId>{073A0DAA-6AF3-43AB-8588-CEC1D06C72B9}</a:tableStyleId>
              </a:tblPr>
              <a:tblGrid>
                <a:gridCol w="4064000">
                  <a:extLst>
                    <a:ext uri="{9D8B030D-6E8A-4147-A177-3AD203B41FA5}">
                      <a16:colId xmlns:a16="http://schemas.microsoft.com/office/drawing/2014/main" val="3211999763"/>
                    </a:ext>
                  </a:extLst>
                </a:gridCol>
                <a:gridCol w="2705226">
                  <a:extLst>
                    <a:ext uri="{9D8B030D-6E8A-4147-A177-3AD203B41FA5}">
                      <a16:colId xmlns:a16="http://schemas.microsoft.com/office/drawing/2014/main" val="2556445017"/>
                    </a:ext>
                  </a:extLst>
                </a:gridCol>
                <a:gridCol w="5422774">
                  <a:extLst>
                    <a:ext uri="{9D8B030D-6E8A-4147-A177-3AD203B41FA5}">
                      <a16:colId xmlns:a16="http://schemas.microsoft.com/office/drawing/2014/main" val="3569724760"/>
                    </a:ext>
                  </a:extLst>
                </a:gridCol>
              </a:tblGrid>
              <a:tr h="1925137">
                <a:tc>
                  <a:txBody>
                    <a:bodyPr/>
                    <a:lstStyle/>
                    <a:p>
                      <a:pPr algn="ctr"/>
                      <a:r>
                        <a:rPr lang="en-US" sz="2200" dirty="0">
                          <a:solidFill>
                            <a:schemeClr val="bg1"/>
                          </a:solidFill>
                        </a:rPr>
                        <a:t>BNPL Usage in Paper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B67A1"/>
                    </a:solidFill>
                  </a:tcPr>
                </a:tc>
                <a:tc>
                  <a:txBody>
                    <a:bodyPr/>
                    <a:lstStyle/>
                    <a:p>
                      <a:pPr algn="ctr"/>
                      <a:r>
                        <a:rPr lang="en-US" sz="2200" dirty="0"/>
                        <a:t>3+ BNPL transactions with Bank in last 12 months</a:t>
                      </a:r>
                    </a:p>
                    <a:p>
                      <a:pPr algn="ctr"/>
                      <a:r>
                        <a:rPr lang="en-US" sz="2200" dirty="0"/>
                        <a:t>(“Internal BNPL”)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B67A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dirty="0"/>
                        <a:t>“Internal BNPL” + “External BNPL”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dirty="0"/>
                        <a:t>&lt; 3 BNPL transactions with Bank in last 12 months AND  &gt;0 BNPL transactions with Bank ever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B67A1"/>
                    </a:solidFill>
                  </a:tcPr>
                </a:tc>
                <a:extLst>
                  <a:ext uri="{0D108BD9-81ED-4DB2-BD59-A6C34878D82A}">
                    <a16:rowId xmlns:a16="http://schemas.microsoft.com/office/drawing/2014/main" val="72789476"/>
                  </a:ext>
                </a:extLst>
              </a:tr>
              <a:tr h="1348507">
                <a:tc>
                  <a:txBody>
                    <a:bodyPr/>
                    <a:lstStyle/>
                    <a:p>
                      <a:pPr algn="ctr"/>
                      <a:r>
                        <a:rPr lang="en-US" sz="2200" b="1" dirty="0">
                          <a:solidFill>
                            <a:schemeClr val="bg1"/>
                          </a:solidFill>
                        </a:rPr>
                        <a:t>Consumer Loan Applications (1,066,503 </a:t>
                      </a:r>
                    </a:p>
                    <a:p>
                      <a:pPr algn="ctr"/>
                      <a:r>
                        <a:rPr lang="en-US" sz="2200" b="1" dirty="0">
                          <a:solidFill>
                            <a:schemeClr val="bg1"/>
                          </a:solidFill>
                        </a:rPr>
                        <a:t>“Whole Sample”)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B67A1"/>
                    </a:solidFill>
                  </a:tcPr>
                </a:tc>
                <a:tc>
                  <a:txBody>
                    <a:bodyPr/>
                    <a:lstStyle/>
                    <a:p>
                      <a:pPr algn="ctr"/>
                      <a:r>
                        <a:rPr lang="en-US" sz="2200" dirty="0"/>
                        <a:t>2.8% </a:t>
                      </a:r>
                    </a:p>
                    <a:p>
                      <a:pPr algn="ctr"/>
                      <a:r>
                        <a:rPr lang="en-US" sz="2200" dirty="0"/>
                        <a:t>(30,115)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200" dirty="0"/>
                        <a:t>9.2% </a:t>
                      </a:r>
                    </a:p>
                    <a:p>
                      <a:pPr algn="ctr"/>
                      <a:r>
                        <a:rPr lang="en-US" sz="2200" dirty="0"/>
                        <a:t>(98,203)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6847757"/>
                  </a:ext>
                </a:extLst>
              </a:tr>
              <a:tr h="829800">
                <a:tc>
                  <a:txBody>
                    <a:bodyPr/>
                    <a:lstStyle/>
                    <a:p>
                      <a:pPr algn="ctr"/>
                      <a:r>
                        <a:rPr lang="en-US" sz="2200" b="1" dirty="0">
                          <a:solidFill>
                            <a:schemeClr val="bg1"/>
                          </a:solidFill>
                        </a:rPr>
                        <a:t>Consumer Loan Approvals </a:t>
                      </a:r>
                    </a:p>
                    <a:p>
                      <a:pPr algn="ctr"/>
                      <a:r>
                        <a:rPr lang="en-US" sz="2200" b="1" dirty="0">
                          <a:solidFill>
                            <a:schemeClr val="bg1"/>
                          </a:solidFill>
                        </a:rPr>
                        <a:t>(8,661 “Whole Sample”)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B67A1"/>
                    </a:solidFill>
                  </a:tcPr>
                </a:tc>
                <a:tc>
                  <a:txBody>
                    <a:bodyPr/>
                    <a:lstStyle/>
                    <a:p>
                      <a:pPr algn="ctr"/>
                      <a:r>
                        <a:rPr lang="en-US" sz="2200" dirty="0"/>
                        <a:t>8.7% </a:t>
                      </a:r>
                    </a:p>
                    <a:p>
                      <a:pPr algn="ctr"/>
                      <a:r>
                        <a:rPr lang="en-US" sz="2200" dirty="0"/>
                        <a:t>(754)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200" dirty="0"/>
                        <a:t>15.7% </a:t>
                      </a:r>
                    </a:p>
                    <a:p>
                      <a:pPr algn="ctr"/>
                      <a:r>
                        <a:rPr lang="en-US" sz="2200" dirty="0"/>
                        <a:t>(1,363)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4502131"/>
                  </a:ext>
                </a:extLst>
              </a:tr>
            </a:tbl>
          </a:graphicData>
        </a:graphic>
      </p:graphicFrame>
    </p:spTree>
    <p:extLst>
      <p:ext uri="{BB962C8B-B14F-4D97-AF65-F5344CB8AC3E}">
        <p14:creationId xmlns:p14="http://schemas.microsoft.com/office/powerpoint/2010/main" val="998865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9FDA1-1728-5042-3FB9-FF4B5B7444F3}"/>
            </a:ext>
          </a:extLst>
        </p:cNvPr>
        <p:cNvGrpSpPr/>
        <p:nvPr/>
      </p:nvGrpSpPr>
      <p:grpSpPr>
        <a:xfrm>
          <a:off x="0" y="0"/>
          <a:ext cx="0" cy="0"/>
          <a:chOff x="0" y="0"/>
          <a:chExt cx="0" cy="0"/>
        </a:xfrm>
      </p:grpSpPr>
      <p:pic>
        <p:nvPicPr>
          <p:cNvPr id="5" name="Picture 4" descr="A screenshot of a document&#10;&#10;AI-generated content may be incorrect.">
            <a:extLst>
              <a:ext uri="{FF2B5EF4-FFF2-40B4-BE49-F238E27FC236}">
                <a16:creationId xmlns:a16="http://schemas.microsoft.com/office/drawing/2014/main" id="{0536BE3C-F482-FA9E-C699-440A75EA6D28}"/>
              </a:ext>
            </a:extLst>
          </p:cNvPr>
          <p:cNvPicPr>
            <a:picLocks noChangeAspect="1"/>
          </p:cNvPicPr>
          <p:nvPr/>
        </p:nvPicPr>
        <p:blipFill>
          <a:blip r:embed="rId2"/>
          <a:stretch>
            <a:fillRect/>
          </a:stretch>
        </p:blipFill>
        <p:spPr>
          <a:xfrm>
            <a:off x="6436656" y="1616289"/>
            <a:ext cx="5744705" cy="4543035"/>
          </a:xfrm>
          <a:prstGeom prst="rect">
            <a:avLst/>
          </a:prstGeom>
        </p:spPr>
      </p:pic>
      <p:sp>
        <p:nvSpPr>
          <p:cNvPr id="2" name="Title 1">
            <a:extLst>
              <a:ext uri="{FF2B5EF4-FFF2-40B4-BE49-F238E27FC236}">
                <a16:creationId xmlns:a16="http://schemas.microsoft.com/office/drawing/2014/main" id="{8293C404-EFE3-0A95-D277-3ADF0012FC89}"/>
              </a:ext>
            </a:extLst>
          </p:cNvPr>
          <p:cNvSpPr>
            <a:spLocks noGrp="1"/>
          </p:cNvSpPr>
          <p:nvPr>
            <p:ph type="title"/>
          </p:nvPr>
        </p:nvSpPr>
        <p:spPr>
          <a:xfrm>
            <a:off x="71147" y="365125"/>
            <a:ext cx="12120853" cy="1325563"/>
          </a:xfrm>
        </p:spPr>
        <p:txBody>
          <a:bodyPr/>
          <a:lstStyle/>
          <a:p>
            <a:r>
              <a:rPr lang="en-US" b="1" dirty="0">
                <a:solidFill>
                  <a:srgbClr val="2B67A1"/>
                </a:solidFill>
              </a:rPr>
              <a:t>Marginal Information from BNPL in Credit Score</a:t>
            </a:r>
          </a:p>
        </p:txBody>
      </p:sp>
      <p:sp>
        <p:nvSpPr>
          <p:cNvPr id="3" name="Content Placeholder 2">
            <a:extLst>
              <a:ext uri="{FF2B5EF4-FFF2-40B4-BE49-F238E27FC236}">
                <a16:creationId xmlns:a16="http://schemas.microsoft.com/office/drawing/2014/main" id="{F6E46237-D5F8-71EC-9459-962883CC712C}"/>
              </a:ext>
            </a:extLst>
          </p:cNvPr>
          <p:cNvSpPr>
            <a:spLocks noGrp="1"/>
          </p:cNvSpPr>
          <p:nvPr>
            <p:ph idx="1"/>
          </p:nvPr>
        </p:nvSpPr>
        <p:spPr>
          <a:xfrm>
            <a:off x="71147" y="1616289"/>
            <a:ext cx="6724099" cy="4876586"/>
          </a:xfrm>
        </p:spPr>
        <p:txBody>
          <a:bodyPr>
            <a:normAutofit/>
          </a:bodyPr>
          <a:lstStyle/>
          <a:p>
            <a:r>
              <a:rPr lang="en-US" dirty="0"/>
              <a:t>Paper controls for </a:t>
            </a:r>
            <a:r>
              <a:rPr lang="en-US" b="1" i="1" dirty="0"/>
              <a:t>external</a:t>
            </a:r>
            <a:r>
              <a:rPr lang="en-US" dirty="0"/>
              <a:t> credit score</a:t>
            </a:r>
          </a:p>
          <a:p>
            <a:r>
              <a:rPr lang="en-US" dirty="0"/>
              <a:t>Observe lender’s </a:t>
            </a:r>
            <a:r>
              <a:rPr lang="en-US" b="1" i="1" dirty="0"/>
              <a:t>internal</a:t>
            </a:r>
            <a:r>
              <a:rPr lang="en-US" b="1" dirty="0"/>
              <a:t> </a:t>
            </a:r>
            <a:r>
              <a:rPr lang="en-US" dirty="0"/>
              <a:t>credit score</a:t>
            </a:r>
          </a:p>
          <a:p>
            <a:pPr lvl="1"/>
            <a:r>
              <a:rPr lang="en-US" dirty="0"/>
              <a:t>Uses Internal BNPL &amp; non-BNPL information</a:t>
            </a:r>
          </a:p>
          <a:p>
            <a:pPr lvl="1"/>
            <a:r>
              <a:rPr lang="en-US" dirty="0"/>
              <a:t>Doesn’t use External BNPL information</a:t>
            </a:r>
          </a:p>
          <a:p>
            <a:r>
              <a:rPr lang="en-US" b="1" dirty="0"/>
              <a:t>Internal credit score </a:t>
            </a:r>
            <a:r>
              <a:rPr lang="en-US" dirty="0"/>
              <a:t>explains </a:t>
            </a:r>
          </a:p>
          <a:p>
            <a:pPr marL="0" indent="0">
              <a:buNone/>
            </a:pPr>
            <a:r>
              <a:rPr lang="en-US" dirty="0"/>
              <a:t>   dispersion in offered interest rates:</a:t>
            </a:r>
          </a:p>
          <a:p>
            <a:pPr lvl="1"/>
            <a:r>
              <a:rPr lang="en-US" dirty="0"/>
              <a:t>R</a:t>
            </a:r>
            <a:r>
              <a:rPr lang="en-US" baseline="30000" dirty="0"/>
              <a:t>2</a:t>
            </a:r>
            <a:r>
              <a:rPr lang="en-US" dirty="0"/>
              <a:t> ⬆️ from ~0.3 to ~0.74 </a:t>
            </a:r>
          </a:p>
          <a:p>
            <a:pPr lvl="1"/>
            <a:r>
              <a:rPr lang="en-US" b="1" dirty="0"/>
              <a:t>Does BNPL use have little-to-no information beyond internal credit score (using non-BNPL information)?</a:t>
            </a:r>
          </a:p>
        </p:txBody>
      </p:sp>
      <p:sp>
        <p:nvSpPr>
          <p:cNvPr id="7" name="Rectangle 6">
            <a:extLst>
              <a:ext uri="{FF2B5EF4-FFF2-40B4-BE49-F238E27FC236}">
                <a16:creationId xmlns:a16="http://schemas.microsoft.com/office/drawing/2014/main" id="{C66C29A8-E7ED-EBB2-26AE-F785CABFABEA}"/>
              </a:ext>
            </a:extLst>
          </p:cNvPr>
          <p:cNvSpPr/>
          <p:nvPr/>
        </p:nvSpPr>
        <p:spPr>
          <a:xfrm>
            <a:off x="10350132" y="2948612"/>
            <a:ext cx="619933" cy="650929"/>
          </a:xfrm>
          <a:prstGeom prst="rect">
            <a:avLst/>
          </a:prstGeom>
          <a:noFill/>
          <a:ln w="1270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A536CA84-C86F-5448-CDD2-0DF6C14C1D68}"/>
              </a:ext>
            </a:extLst>
          </p:cNvPr>
          <p:cNvSpPr/>
          <p:nvPr/>
        </p:nvSpPr>
        <p:spPr>
          <a:xfrm>
            <a:off x="10350132" y="4894732"/>
            <a:ext cx="619933" cy="325465"/>
          </a:xfrm>
          <a:prstGeom prst="rect">
            <a:avLst/>
          </a:prstGeom>
          <a:noFill/>
          <a:ln w="1270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97548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94C0D-0922-3271-EC00-07A36C92F1B1}"/>
              </a:ext>
            </a:extLst>
          </p:cNvPr>
          <p:cNvSpPr>
            <a:spLocks noGrp="1"/>
          </p:cNvSpPr>
          <p:nvPr>
            <p:ph type="title"/>
          </p:nvPr>
        </p:nvSpPr>
        <p:spPr>
          <a:xfrm>
            <a:off x="838200" y="365125"/>
            <a:ext cx="11353800" cy="1325563"/>
          </a:xfrm>
        </p:spPr>
        <p:txBody>
          <a:bodyPr/>
          <a:lstStyle/>
          <a:p>
            <a:r>
              <a:rPr lang="en-US" b="1" dirty="0">
                <a:solidFill>
                  <a:srgbClr val="2B67A1"/>
                </a:solidFill>
              </a:rPr>
              <a:t>Prediction Problem Or Causal Problem?</a:t>
            </a:r>
          </a:p>
        </p:txBody>
      </p:sp>
      <p:sp>
        <p:nvSpPr>
          <p:cNvPr id="3" name="Content Placeholder 2">
            <a:extLst>
              <a:ext uri="{FF2B5EF4-FFF2-40B4-BE49-F238E27FC236}">
                <a16:creationId xmlns:a16="http://schemas.microsoft.com/office/drawing/2014/main" id="{37089BBC-8F2A-68EA-751F-DB5BC2298D5B}"/>
              </a:ext>
            </a:extLst>
          </p:cNvPr>
          <p:cNvSpPr>
            <a:spLocks noGrp="1"/>
          </p:cNvSpPr>
          <p:nvPr>
            <p:ph idx="1"/>
          </p:nvPr>
        </p:nvSpPr>
        <p:spPr>
          <a:xfrm>
            <a:off x="838200" y="1230923"/>
            <a:ext cx="11033502" cy="5627077"/>
          </a:xfrm>
        </p:spPr>
        <p:txBody>
          <a:bodyPr>
            <a:normAutofit fontScale="62500" lnSpcReduction="20000"/>
          </a:bodyPr>
          <a:lstStyle/>
          <a:p>
            <a:r>
              <a:rPr lang="en-US" b="1" dirty="0"/>
              <a:t>Prediction Problem: </a:t>
            </a:r>
          </a:p>
          <a:p>
            <a:pPr marL="0" indent="0">
              <a:buNone/>
            </a:pPr>
            <a:r>
              <a:rPr lang="en-US" b="1" dirty="0"/>
              <a:t>	</a:t>
            </a:r>
            <a:r>
              <a:rPr lang="en-US" dirty="0"/>
              <a:t>Does Past BNPL Use Provide Informative Signal For Non-BNPL Lending Outcomes?</a:t>
            </a:r>
          </a:p>
          <a:p>
            <a:r>
              <a:rPr lang="en-US" b="1" dirty="0"/>
              <a:t>Causal Question:</a:t>
            </a:r>
            <a:r>
              <a:rPr lang="en-US" dirty="0"/>
              <a:t> </a:t>
            </a:r>
          </a:p>
          <a:p>
            <a:pPr marL="0" indent="0">
              <a:buNone/>
            </a:pPr>
            <a:r>
              <a:rPr lang="en-US" dirty="0"/>
              <a:t>	Does Past BNPL Use Cause Changes In Non-BNPL Lending Outcomes?</a:t>
            </a:r>
          </a:p>
          <a:p>
            <a:pPr marL="0" indent="0">
              <a:buNone/>
            </a:pPr>
            <a:r>
              <a:rPr lang="en-US" dirty="0">
                <a:solidFill>
                  <a:schemeClr val="bg1">
                    <a:lumMod val="50000"/>
                  </a:schemeClr>
                </a:solidFill>
              </a:rPr>
              <a:t>(Kleinberg, Ludwig, Mullainathan, Obermeyer, 2015; Mullainathan &amp; Speiss, 2017)</a:t>
            </a:r>
            <a:endParaRPr lang="en-US" dirty="0"/>
          </a:p>
          <a:p>
            <a:r>
              <a:rPr lang="en-US" b="1" dirty="0"/>
              <a:t>Better causal identification methodology would benefit the paper</a:t>
            </a:r>
            <a:endParaRPr lang="en-US" dirty="0"/>
          </a:p>
          <a:p>
            <a:pPr lvl="1"/>
            <a:r>
              <a:rPr lang="en-US" dirty="0"/>
              <a:t>Current identification strategy is conditional on observables &amp; only observe outcomes when bank uses BNPL information</a:t>
            </a:r>
          </a:p>
          <a:p>
            <a:pPr lvl="1"/>
            <a:r>
              <a:rPr lang="en-US" dirty="0"/>
              <a:t>Ideally want exogenous variation in BNPL usage and/or adoption of BNPL information by bank</a:t>
            </a:r>
          </a:p>
          <a:p>
            <a:r>
              <a:rPr lang="en-US" b="1" dirty="0"/>
              <a:t>Ideas for better causal identification strategies</a:t>
            </a:r>
          </a:p>
          <a:p>
            <a:pPr lvl="1"/>
            <a:r>
              <a:rPr lang="en-US" dirty="0"/>
              <a:t>Exploit BNPL information dropping off internal credit score: compare applications with BNPL use 12 vs. 13 months prior (alternatively 2 vs. 3 BNPL transactions in last year may also be ok)</a:t>
            </a:r>
          </a:p>
          <a:p>
            <a:pPr marL="457200" lvl="1" indent="0">
              <a:buNone/>
            </a:pPr>
            <a:r>
              <a:rPr lang="en-US" dirty="0">
                <a:solidFill>
                  <a:schemeClr val="bg1">
                    <a:lumMod val="50000"/>
                  </a:schemeClr>
                </a:solidFill>
              </a:rPr>
              <a:t>     (bankruptcy flag lit. e.g., Bos, Breza, &amp; Liberman, 2018; Dobbie, Goldsmith-Pinkham, Mahoney, &amp; Song, 2020) </a:t>
            </a:r>
          </a:p>
          <a:p>
            <a:pPr lvl="1"/>
            <a:r>
              <a:rPr lang="en-US" dirty="0"/>
              <a:t>Variation in consumer BNPL usage driven by bank starting to offer BNPL services</a:t>
            </a:r>
          </a:p>
          <a:p>
            <a:pPr marL="457200" lvl="1" indent="0">
              <a:buNone/>
            </a:pPr>
            <a:r>
              <a:rPr lang="en-US" dirty="0"/>
              <a:t>     </a:t>
            </a:r>
            <a:r>
              <a:rPr lang="en-US" dirty="0">
                <a:solidFill>
                  <a:schemeClr val="bg1">
                    <a:lumMod val="50000"/>
                  </a:schemeClr>
                </a:solidFill>
              </a:rPr>
              <a:t>(e.g., IV for BNPL take-up; within-person variation in loan terms pre/post BNPL use)</a:t>
            </a:r>
          </a:p>
          <a:p>
            <a:pPr lvl="1"/>
            <a:r>
              <a:rPr lang="en-US" dirty="0"/>
              <a:t>Fuzzy RDD (IV) in BNPL credit score </a:t>
            </a:r>
            <a:r>
              <a:rPr lang="en-US" dirty="0">
                <a:solidFill>
                  <a:schemeClr val="bg1">
                    <a:lumMod val="50000"/>
                  </a:schemeClr>
                </a:solidFill>
              </a:rPr>
              <a:t>(e.g., Shupe &amp; </a:t>
            </a:r>
            <a:r>
              <a:rPr lang="en-US" dirty="0" err="1">
                <a:solidFill>
                  <a:schemeClr val="bg1">
                    <a:lumMod val="50000"/>
                  </a:schemeClr>
                </a:solidFill>
              </a:rPr>
              <a:t>Palloni</a:t>
            </a:r>
            <a:r>
              <a:rPr lang="en-US" dirty="0">
                <a:solidFill>
                  <a:schemeClr val="bg1">
                    <a:lumMod val="50000"/>
                  </a:schemeClr>
                </a:solidFill>
              </a:rPr>
              <a:t>, 2025)</a:t>
            </a:r>
          </a:p>
          <a:p>
            <a:r>
              <a:rPr lang="en-US" dirty="0"/>
              <a:t>Or </a:t>
            </a:r>
            <a:r>
              <a:rPr lang="en-US" b="1" dirty="0"/>
              <a:t>lean into prediction problem showing the marginal value of BNPL information</a:t>
            </a:r>
            <a:endParaRPr lang="en-US" dirty="0"/>
          </a:p>
          <a:p>
            <a:pPr lvl="1"/>
            <a:r>
              <a:rPr lang="en-US" dirty="0"/>
              <a:t>I want to know how bank’s adoption of BNPL information </a:t>
            </a:r>
            <a:r>
              <a:rPr lang="en-US" b="1" i="1" dirty="0"/>
              <a:t>changes</a:t>
            </a:r>
            <a:r>
              <a:rPr lang="en-US" dirty="0"/>
              <a:t> their lending decisions, but only post-adoption observed</a:t>
            </a:r>
          </a:p>
          <a:p>
            <a:pPr lvl="1"/>
            <a:r>
              <a:rPr lang="en-US" dirty="0"/>
              <a:t>Follow methods in prior work  (e.g., out-of-sample AUC without vs. with BNPL information) &amp; benchmark to other information</a:t>
            </a:r>
          </a:p>
          <a:p>
            <a:pPr marL="457200" lvl="1" indent="0">
              <a:buNone/>
            </a:pPr>
            <a:r>
              <a:rPr lang="en-US" dirty="0">
                <a:solidFill>
                  <a:schemeClr val="bg1">
                    <a:lumMod val="50000"/>
                  </a:schemeClr>
                </a:solidFill>
              </a:rPr>
              <a:t>     (e.g., Berg, Burg, </a:t>
            </a:r>
            <a:r>
              <a:rPr lang="en-US" dirty="0" err="1">
                <a:solidFill>
                  <a:schemeClr val="bg1">
                    <a:lumMod val="50000"/>
                  </a:schemeClr>
                </a:solidFill>
              </a:rPr>
              <a:t>Gombović</a:t>
            </a:r>
            <a:r>
              <a:rPr lang="en-US" dirty="0">
                <a:solidFill>
                  <a:schemeClr val="bg1">
                    <a:lumMod val="50000"/>
                  </a:schemeClr>
                </a:solidFill>
              </a:rPr>
              <a:t>, &amp; Puri, 2020; Fuster, Goldsmith-Pinkham, </a:t>
            </a:r>
            <a:r>
              <a:rPr lang="en-US" dirty="0" err="1">
                <a:solidFill>
                  <a:schemeClr val="bg1">
                    <a:lumMod val="50000"/>
                  </a:schemeClr>
                </a:solidFill>
              </a:rPr>
              <a:t>Ramadorai</a:t>
            </a:r>
            <a:r>
              <a:rPr lang="en-US" dirty="0">
                <a:solidFill>
                  <a:schemeClr val="bg1">
                    <a:lumMod val="50000"/>
                  </a:schemeClr>
                </a:solidFill>
              </a:rPr>
              <a:t>, &amp; Walter, 2022; </a:t>
            </a:r>
          </a:p>
          <a:p>
            <a:pPr marL="457200" lvl="1" indent="0">
              <a:buNone/>
            </a:pPr>
            <a:r>
              <a:rPr lang="en-US" dirty="0">
                <a:solidFill>
                  <a:schemeClr val="bg1">
                    <a:lumMod val="50000"/>
                  </a:schemeClr>
                </a:solidFill>
              </a:rPr>
              <a:t>      Blattner &amp; Nelson, 2024; Duarte, Fonseca, Kohli, &amp; Reif, 2025; Guttman-Kenney, 2025)</a:t>
            </a:r>
          </a:p>
        </p:txBody>
      </p:sp>
    </p:spTree>
    <p:extLst>
      <p:ext uri="{BB962C8B-B14F-4D97-AF65-F5344CB8AC3E}">
        <p14:creationId xmlns:p14="http://schemas.microsoft.com/office/powerpoint/2010/main" val="1283250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4" end="1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6" end="1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7" end="1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B67A1"/>
        </a:solidFill>
        <a:effectLst/>
      </p:bgPr>
    </p:bg>
    <p:spTree>
      <p:nvGrpSpPr>
        <p:cNvPr id="1" name="">
          <a:extLst>
            <a:ext uri="{FF2B5EF4-FFF2-40B4-BE49-F238E27FC236}">
              <a16:creationId xmlns:a16="http://schemas.microsoft.com/office/drawing/2014/main" id="{6BC4777C-E7F0-BD8B-4D8E-FB86FC64F2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BA05B-AADB-1C2B-4DEB-7804067DD0FB}"/>
              </a:ext>
            </a:extLst>
          </p:cNvPr>
          <p:cNvSpPr>
            <a:spLocks noGrp="1"/>
          </p:cNvSpPr>
          <p:nvPr>
            <p:ph type="ctrTitle"/>
          </p:nvPr>
        </p:nvSpPr>
        <p:spPr/>
        <p:txBody>
          <a:bodyPr/>
          <a:lstStyle/>
          <a:p>
            <a:r>
              <a:rPr lang="en-US" b="1" dirty="0">
                <a:solidFill>
                  <a:schemeClr val="bg1"/>
                </a:solidFill>
              </a:rPr>
              <a:t>#2: Extensive Margin</a:t>
            </a:r>
          </a:p>
        </p:txBody>
      </p:sp>
      <p:sp>
        <p:nvSpPr>
          <p:cNvPr id="3" name="Subtitle 2">
            <a:extLst>
              <a:ext uri="{FF2B5EF4-FFF2-40B4-BE49-F238E27FC236}">
                <a16:creationId xmlns:a16="http://schemas.microsoft.com/office/drawing/2014/main" id="{D6851489-E7A3-8C99-1EA0-69C766DEB9A0}"/>
              </a:ext>
            </a:extLst>
          </p:cNvPr>
          <p:cNvSpPr>
            <a:spLocks noGrp="1"/>
          </p:cNvSpPr>
          <p:nvPr>
            <p:ph type="subTitle" idx="1"/>
          </p:nvPr>
        </p:nvSpPr>
        <p:spPr/>
        <p:txBody>
          <a:bodyPr/>
          <a:lstStyle/>
          <a:p>
            <a:endParaRPr lang="en-US" dirty="0">
              <a:solidFill>
                <a:schemeClr val="bg1"/>
              </a:solidFill>
            </a:endParaRPr>
          </a:p>
        </p:txBody>
      </p:sp>
    </p:spTree>
    <p:extLst>
      <p:ext uri="{BB962C8B-B14F-4D97-AF65-F5344CB8AC3E}">
        <p14:creationId xmlns:p14="http://schemas.microsoft.com/office/powerpoint/2010/main" val="4263669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8B925-80DB-B678-DB55-F3B79FC30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746D3-0AF4-237A-0F24-0B260398F899}"/>
              </a:ext>
            </a:extLst>
          </p:cNvPr>
          <p:cNvSpPr>
            <a:spLocks noGrp="1"/>
          </p:cNvSpPr>
          <p:nvPr>
            <p:ph type="title"/>
          </p:nvPr>
        </p:nvSpPr>
        <p:spPr/>
        <p:txBody>
          <a:bodyPr>
            <a:normAutofit/>
          </a:bodyPr>
          <a:lstStyle/>
          <a:p>
            <a:r>
              <a:rPr lang="en-US" b="1" dirty="0">
                <a:solidFill>
                  <a:srgbClr val="2B67A1"/>
                </a:solidFill>
              </a:rPr>
              <a:t>Paper Finds “That BNPL Transaction Data Can Expand Credit Access”</a:t>
            </a:r>
          </a:p>
        </p:txBody>
      </p:sp>
      <p:sp>
        <p:nvSpPr>
          <p:cNvPr id="3" name="Content Placeholder 2">
            <a:extLst>
              <a:ext uri="{FF2B5EF4-FFF2-40B4-BE49-F238E27FC236}">
                <a16:creationId xmlns:a16="http://schemas.microsoft.com/office/drawing/2014/main" id="{80DAD663-ECBC-2D2C-DE1A-A96171E7C943}"/>
              </a:ext>
            </a:extLst>
          </p:cNvPr>
          <p:cNvSpPr>
            <a:spLocks noGrp="1"/>
          </p:cNvSpPr>
          <p:nvPr>
            <p:ph idx="1"/>
          </p:nvPr>
        </p:nvSpPr>
        <p:spPr>
          <a:xfrm>
            <a:off x="838200" y="1825625"/>
            <a:ext cx="11353800" cy="4351338"/>
          </a:xfrm>
        </p:spPr>
        <p:txBody>
          <a:bodyPr>
            <a:normAutofit/>
          </a:bodyPr>
          <a:lstStyle/>
          <a:p>
            <a:r>
              <a:rPr lang="en-US" sz="2400" dirty="0"/>
              <a:t>Paper shows loan offer acceptance rates &amp; interest rates vary with BNPL use</a:t>
            </a:r>
          </a:p>
          <a:p>
            <a:r>
              <a:rPr lang="en-US" sz="2400" dirty="0"/>
              <a:t>What happens to the </a:t>
            </a:r>
            <a:r>
              <a:rPr lang="en-US" sz="2400" b="1" dirty="0"/>
              <a:t>extensive margin? </a:t>
            </a:r>
          </a:p>
          <a:p>
            <a:pPr lvl="1"/>
            <a:r>
              <a:rPr lang="en-US" sz="2000" dirty="0"/>
              <a:t>Does overall quantity of lending ⬆️ at bank / overall? Is the bank converting more applications?</a:t>
            </a:r>
          </a:p>
          <a:p>
            <a:pPr lvl="1"/>
            <a:r>
              <a:rPr lang="en-US" sz="2000" dirty="0"/>
              <a:t>How do terms (interest rates, loan sizes) of N</a:t>
            </a:r>
            <a:r>
              <a:rPr lang="en-US" sz="2000" baseline="30000" dirty="0"/>
              <a:t>th</a:t>
            </a:r>
            <a:r>
              <a:rPr lang="en-US" sz="2000" dirty="0"/>
              <a:t> consumer loan change within-consumer? </a:t>
            </a:r>
          </a:p>
          <a:p>
            <a:pPr lvl="1"/>
            <a:r>
              <a:rPr lang="en-US" sz="2000" dirty="0"/>
              <a:t>How does access vary depending on whether you repay BNPL or default on BNPL?</a:t>
            </a:r>
          </a:p>
          <a:p>
            <a:r>
              <a:rPr lang="en-US" sz="2400" dirty="0"/>
              <a:t>To study whether BNPL expands credit access you would need better data</a:t>
            </a:r>
          </a:p>
          <a:p>
            <a:pPr marL="0" indent="0">
              <a:buNone/>
            </a:pPr>
            <a:r>
              <a:rPr lang="en-US" sz="2400" dirty="0"/>
              <a:t>    as you </a:t>
            </a:r>
            <a:r>
              <a:rPr lang="en-US" sz="2400" b="1" dirty="0"/>
              <a:t>do not see loan applications or approvals by other banks &amp; non-banks</a:t>
            </a:r>
            <a:endParaRPr lang="en-US" b="1" dirty="0"/>
          </a:p>
          <a:p>
            <a:pPr lvl="1"/>
            <a:endParaRPr lang="en-US" sz="2000" dirty="0"/>
          </a:p>
        </p:txBody>
      </p:sp>
    </p:spTree>
    <p:extLst>
      <p:ext uri="{BB962C8B-B14F-4D97-AF65-F5344CB8AC3E}">
        <p14:creationId xmlns:p14="http://schemas.microsoft.com/office/powerpoint/2010/main" val="96081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B67A1"/>
        </a:solidFill>
        <a:effectLst/>
      </p:bgPr>
    </p:bg>
    <p:spTree>
      <p:nvGrpSpPr>
        <p:cNvPr id="1" name="">
          <a:extLst>
            <a:ext uri="{FF2B5EF4-FFF2-40B4-BE49-F238E27FC236}">
              <a16:creationId xmlns:a16="http://schemas.microsoft.com/office/drawing/2014/main" id="{94D05822-7013-C950-109C-CB45A4C69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8A855-BA2B-C133-1D79-805D92F0710A}"/>
              </a:ext>
            </a:extLst>
          </p:cNvPr>
          <p:cNvSpPr>
            <a:spLocks noGrp="1"/>
          </p:cNvSpPr>
          <p:nvPr>
            <p:ph type="ctrTitle"/>
          </p:nvPr>
        </p:nvSpPr>
        <p:spPr/>
        <p:txBody>
          <a:bodyPr/>
          <a:lstStyle/>
          <a:p>
            <a:r>
              <a:rPr lang="en-US" b="1" dirty="0">
                <a:solidFill>
                  <a:schemeClr val="bg1"/>
                </a:solidFill>
              </a:rPr>
              <a:t>#3: Information Sharing</a:t>
            </a:r>
          </a:p>
        </p:txBody>
      </p:sp>
      <p:sp>
        <p:nvSpPr>
          <p:cNvPr id="3" name="Subtitle 2">
            <a:extLst>
              <a:ext uri="{FF2B5EF4-FFF2-40B4-BE49-F238E27FC236}">
                <a16:creationId xmlns:a16="http://schemas.microsoft.com/office/drawing/2014/main" id="{8E59F67C-B9A5-B131-3A12-36D49CE6E6FC}"/>
              </a:ext>
            </a:extLst>
          </p:cNvPr>
          <p:cNvSpPr>
            <a:spLocks noGrp="1"/>
          </p:cNvSpPr>
          <p:nvPr>
            <p:ph type="subTitle" idx="1"/>
          </p:nvPr>
        </p:nvSpPr>
        <p:spPr/>
        <p:txBody>
          <a:bodyPr/>
          <a:lstStyle/>
          <a:p>
            <a:endParaRPr lang="en-US" dirty="0">
              <a:solidFill>
                <a:schemeClr val="bg1"/>
              </a:solidFill>
            </a:endParaRPr>
          </a:p>
        </p:txBody>
      </p:sp>
    </p:spTree>
    <p:extLst>
      <p:ext uri="{BB962C8B-B14F-4D97-AF65-F5344CB8AC3E}">
        <p14:creationId xmlns:p14="http://schemas.microsoft.com/office/powerpoint/2010/main" val="709329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DF3E1-F17B-1CA3-8316-DF7B79A44BD3}"/>
              </a:ext>
            </a:extLst>
          </p:cNvPr>
          <p:cNvSpPr>
            <a:spLocks noGrp="1"/>
          </p:cNvSpPr>
          <p:nvPr>
            <p:ph type="title"/>
          </p:nvPr>
        </p:nvSpPr>
        <p:spPr>
          <a:xfrm>
            <a:off x="838200" y="365125"/>
            <a:ext cx="11353800" cy="1325563"/>
          </a:xfrm>
        </p:spPr>
        <p:txBody>
          <a:bodyPr/>
          <a:lstStyle/>
          <a:p>
            <a:br>
              <a:rPr lang="en-US" b="1" dirty="0">
                <a:solidFill>
                  <a:srgbClr val="2B67A1"/>
                </a:solidFill>
              </a:rPr>
            </a:br>
            <a:r>
              <a:rPr lang="en-US" b="1" dirty="0">
                <a:solidFill>
                  <a:srgbClr val="2B67A1"/>
                </a:solidFill>
              </a:rPr>
              <a:t>How To Access Better Credit In The U.S. (+U.K.)</a:t>
            </a:r>
          </a:p>
        </p:txBody>
      </p:sp>
      <p:sp>
        <p:nvSpPr>
          <p:cNvPr id="3" name="Content Placeholder 2">
            <a:extLst>
              <a:ext uri="{FF2B5EF4-FFF2-40B4-BE49-F238E27FC236}">
                <a16:creationId xmlns:a16="http://schemas.microsoft.com/office/drawing/2014/main" id="{76FF1195-A70F-AABB-DA5F-A62719A81AFB}"/>
              </a:ext>
            </a:extLst>
          </p:cNvPr>
          <p:cNvSpPr>
            <a:spLocks noGrp="1"/>
          </p:cNvSpPr>
          <p:nvPr>
            <p:ph idx="1"/>
          </p:nvPr>
        </p:nvSpPr>
        <p:spPr/>
        <p:txBody>
          <a:bodyPr/>
          <a:lstStyle/>
          <a:p>
            <a:pPr marL="0" indent="0">
              <a:buNone/>
            </a:pPr>
            <a:r>
              <a:rPr lang="en-US" dirty="0"/>
              <a:t>Consumers start without a credit score</a:t>
            </a:r>
          </a:p>
          <a:p>
            <a:pPr marL="514350" indent="-514350">
              <a:buFont typeface="+mj-lt"/>
              <a:buAutoNum type="arabicPeriod"/>
            </a:pPr>
            <a:r>
              <a:rPr lang="en-US" dirty="0"/>
              <a:t>Take out a credit card</a:t>
            </a:r>
          </a:p>
          <a:p>
            <a:pPr marL="514350" indent="-514350">
              <a:buFont typeface="+mj-lt"/>
              <a:buAutoNum type="arabicPeriod"/>
            </a:pPr>
            <a:r>
              <a:rPr lang="en-US" dirty="0"/>
              <a:t>Demonstrate low credit risk behaviors</a:t>
            </a:r>
          </a:p>
          <a:p>
            <a:pPr lvl="1"/>
            <a:r>
              <a:rPr lang="en-US" dirty="0"/>
              <a:t>Don’t miss a credit card payment (by 30+ days), </a:t>
            </a:r>
          </a:p>
          <a:p>
            <a:pPr lvl="1"/>
            <a:r>
              <a:rPr lang="en-US" dirty="0"/>
              <a:t>Don’t spend to near your credit card limit (utilization)</a:t>
            </a:r>
          </a:p>
          <a:p>
            <a:pPr lvl="1"/>
            <a:r>
              <a:rPr lang="en-US" dirty="0"/>
              <a:t>Don’t close your credit card</a:t>
            </a:r>
          </a:p>
          <a:p>
            <a:pPr marL="514350" indent="-514350">
              <a:buFont typeface="+mj-lt"/>
              <a:buAutoNum type="arabicPeriod"/>
            </a:pPr>
            <a:r>
              <a:rPr lang="en-US" dirty="0"/>
              <a:t>Over time your credit score ⬆️ &amp; you can access cheaper credit</a:t>
            </a:r>
          </a:p>
        </p:txBody>
      </p:sp>
    </p:spTree>
    <p:extLst>
      <p:ext uri="{BB962C8B-B14F-4D97-AF65-F5344CB8AC3E}">
        <p14:creationId xmlns:p14="http://schemas.microsoft.com/office/powerpoint/2010/main" val="1379448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021B1-40D1-9D72-AA55-5C3306DF2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113C6-96D6-1426-3A1D-BBB04A6686DB}"/>
              </a:ext>
            </a:extLst>
          </p:cNvPr>
          <p:cNvSpPr>
            <a:spLocks noGrp="1"/>
          </p:cNvSpPr>
          <p:nvPr>
            <p:ph type="title"/>
          </p:nvPr>
        </p:nvSpPr>
        <p:spPr>
          <a:xfrm>
            <a:off x="838200" y="365125"/>
            <a:ext cx="11353800" cy="1325563"/>
          </a:xfrm>
        </p:spPr>
        <p:txBody>
          <a:bodyPr/>
          <a:lstStyle/>
          <a:p>
            <a:r>
              <a:rPr lang="en-US" b="1" dirty="0">
                <a:solidFill>
                  <a:srgbClr val="2B67A1"/>
                </a:solidFill>
              </a:rPr>
              <a:t>The Problem With…</a:t>
            </a:r>
            <a:br>
              <a:rPr lang="en-US" b="1" dirty="0">
                <a:solidFill>
                  <a:srgbClr val="2B67A1"/>
                </a:solidFill>
              </a:rPr>
            </a:br>
            <a:r>
              <a:rPr lang="en-US" dirty="0">
                <a:solidFill>
                  <a:srgbClr val="2B67A1"/>
                </a:solidFill>
              </a:rPr>
              <a:t>How To Access Better Credit In The U.S. (+U.K.)</a:t>
            </a:r>
          </a:p>
        </p:txBody>
      </p:sp>
      <p:sp>
        <p:nvSpPr>
          <p:cNvPr id="3" name="Content Placeholder 2">
            <a:extLst>
              <a:ext uri="{FF2B5EF4-FFF2-40B4-BE49-F238E27FC236}">
                <a16:creationId xmlns:a16="http://schemas.microsoft.com/office/drawing/2014/main" id="{CB180132-7344-BE99-82FD-21C4406A0258}"/>
              </a:ext>
            </a:extLst>
          </p:cNvPr>
          <p:cNvSpPr>
            <a:spLocks noGrp="1"/>
          </p:cNvSpPr>
          <p:nvPr>
            <p:ph idx="1"/>
          </p:nvPr>
        </p:nvSpPr>
        <p:spPr>
          <a:xfrm>
            <a:off x="838200" y="1825624"/>
            <a:ext cx="11353800" cy="5032375"/>
          </a:xfrm>
        </p:spPr>
        <p:txBody>
          <a:bodyPr>
            <a:normAutofit fontScale="70000" lnSpcReduction="20000"/>
          </a:bodyPr>
          <a:lstStyle/>
          <a:p>
            <a:pPr marL="0" indent="0">
              <a:buNone/>
            </a:pPr>
            <a:r>
              <a:rPr lang="en-US" b="1" dirty="0">
                <a:solidFill>
                  <a:srgbClr val="2B67A1"/>
                </a:solidFill>
              </a:rPr>
              <a:t>Credit cards </a:t>
            </a:r>
            <a:r>
              <a:rPr lang="en-US" dirty="0"/>
              <a:t>are:</a:t>
            </a:r>
          </a:p>
          <a:p>
            <a:r>
              <a:rPr lang="en-US" dirty="0"/>
              <a:t>Expensive (~20% APR)</a:t>
            </a:r>
          </a:p>
          <a:p>
            <a:r>
              <a:rPr lang="en-US" dirty="0"/>
              <a:t>Hard to pay off debt (need self-discipline on both spending and repayment)</a:t>
            </a:r>
          </a:p>
          <a:p>
            <a:r>
              <a:rPr lang="en-US" dirty="0"/>
              <a:t>Amortize slowly (minimum payment is ~1% balance)</a:t>
            </a:r>
          </a:p>
          <a:p>
            <a:r>
              <a:rPr lang="en-US" dirty="0"/>
              <a:t>“Junk fees”</a:t>
            </a:r>
          </a:p>
          <a:p>
            <a:pPr marL="0" indent="0">
              <a:buNone/>
            </a:pPr>
            <a:endParaRPr lang="en-US" dirty="0"/>
          </a:p>
          <a:p>
            <a:pPr marL="0" indent="0">
              <a:buNone/>
            </a:pPr>
            <a:r>
              <a:rPr lang="en-US" dirty="0"/>
              <a:t>Plethora of research shows consumers often misunderstand credit cards, &amp; make costly mistakes </a:t>
            </a:r>
          </a:p>
          <a:p>
            <a:pPr marL="0" indent="0">
              <a:buNone/>
            </a:pPr>
            <a:r>
              <a:rPr lang="en-US" dirty="0">
                <a:solidFill>
                  <a:schemeClr val="bg1">
                    <a:lumMod val="50000"/>
                  </a:schemeClr>
                </a:solidFill>
              </a:rPr>
              <a:t>(reviewed in Beshears, Choi, </a:t>
            </a:r>
            <a:r>
              <a:rPr lang="en-US" dirty="0" err="1">
                <a:solidFill>
                  <a:schemeClr val="bg1">
                    <a:lumMod val="50000"/>
                  </a:schemeClr>
                </a:solidFill>
              </a:rPr>
              <a:t>Laibson</a:t>
            </a:r>
            <a:r>
              <a:rPr lang="en-US" dirty="0">
                <a:solidFill>
                  <a:schemeClr val="bg1">
                    <a:lumMod val="50000"/>
                  </a:schemeClr>
                </a:solidFill>
              </a:rPr>
              <a:t>, &amp; </a:t>
            </a:r>
            <a:r>
              <a:rPr lang="en-US" dirty="0" err="1">
                <a:solidFill>
                  <a:schemeClr val="bg1">
                    <a:lumMod val="50000"/>
                  </a:schemeClr>
                </a:solidFill>
              </a:rPr>
              <a:t>Madrian</a:t>
            </a:r>
            <a:r>
              <a:rPr lang="en-US" dirty="0">
                <a:solidFill>
                  <a:schemeClr val="bg1">
                    <a:lumMod val="50000"/>
                  </a:schemeClr>
                </a:solidFill>
              </a:rPr>
              <a:t>, 2018; Gomes, </a:t>
            </a:r>
            <a:r>
              <a:rPr lang="en-US" dirty="0" err="1">
                <a:solidFill>
                  <a:schemeClr val="bg1">
                    <a:lumMod val="50000"/>
                  </a:schemeClr>
                </a:solidFill>
              </a:rPr>
              <a:t>Haliassos</a:t>
            </a:r>
            <a:r>
              <a:rPr lang="en-US" dirty="0">
                <a:solidFill>
                  <a:schemeClr val="bg1">
                    <a:lumMod val="50000"/>
                  </a:schemeClr>
                </a:solidFill>
              </a:rPr>
              <a:t>, &amp; </a:t>
            </a:r>
            <a:r>
              <a:rPr lang="en-US" dirty="0" err="1">
                <a:solidFill>
                  <a:schemeClr val="bg1">
                    <a:lumMod val="50000"/>
                  </a:schemeClr>
                </a:solidFill>
              </a:rPr>
              <a:t>Ramadorai</a:t>
            </a:r>
            <a:r>
              <a:rPr lang="en-US" dirty="0">
                <a:solidFill>
                  <a:schemeClr val="bg1">
                    <a:lumMod val="50000"/>
                  </a:schemeClr>
                </a:solidFill>
              </a:rPr>
              <a:t>, 2021)</a:t>
            </a:r>
          </a:p>
          <a:p>
            <a:pPr marL="0" indent="0">
              <a:buNone/>
            </a:pPr>
            <a:endParaRPr lang="en-US" dirty="0"/>
          </a:p>
          <a:p>
            <a:pPr marL="0" indent="0">
              <a:buNone/>
            </a:pPr>
            <a:r>
              <a:rPr lang="en-US" b="1" dirty="0">
                <a:solidFill>
                  <a:srgbClr val="2B67A1"/>
                </a:solidFill>
              </a:rPr>
              <a:t>BNPL</a:t>
            </a:r>
            <a:r>
              <a:rPr lang="en-US" dirty="0"/>
              <a:t> potentially offers a better way for consumers to build credit:</a:t>
            </a:r>
          </a:p>
          <a:p>
            <a:r>
              <a:rPr lang="en-US" dirty="0"/>
              <a:t>Interest-free </a:t>
            </a:r>
          </a:p>
          <a:p>
            <a:r>
              <a:rPr lang="en-US" dirty="0"/>
              <a:t>Debt amortizes in a few weeks/months</a:t>
            </a:r>
          </a:p>
          <a:p>
            <a:r>
              <a:rPr lang="en-US" dirty="0"/>
              <a:t>No junk fees</a:t>
            </a:r>
          </a:p>
        </p:txBody>
      </p:sp>
    </p:spTree>
    <p:extLst>
      <p:ext uri="{BB962C8B-B14F-4D97-AF65-F5344CB8AC3E}">
        <p14:creationId xmlns:p14="http://schemas.microsoft.com/office/powerpoint/2010/main" val="3568800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C27A-EC24-AB8D-EE0D-3C004EFA1156}"/>
              </a:ext>
            </a:extLst>
          </p:cNvPr>
          <p:cNvSpPr>
            <a:spLocks noGrp="1"/>
          </p:cNvSpPr>
          <p:nvPr>
            <p:ph type="title"/>
          </p:nvPr>
        </p:nvSpPr>
        <p:spPr>
          <a:xfrm>
            <a:off x="838200" y="365125"/>
            <a:ext cx="10957560" cy="1325563"/>
          </a:xfrm>
        </p:spPr>
        <p:txBody>
          <a:bodyPr>
            <a:normAutofit/>
          </a:bodyPr>
          <a:lstStyle/>
          <a:p>
            <a:r>
              <a:rPr lang="en-US" b="1" dirty="0">
                <a:solidFill>
                  <a:srgbClr val="2B67A1"/>
                </a:solidFill>
              </a:rPr>
              <a:t>The Big Unanswered Question: </a:t>
            </a:r>
            <a:br>
              <a:rPr lang="en-US" b="1" dirty="0">
                <a:solidFill>
                  <a:srgbClr val="2B67A1"/>
                </a:solidFill>
              </a:rPr>
            </a:br>
            <a:r>
              <a:rPr lang="en-US" b="1" dirty="0">
                <a:solidFill>
                  <a:srgbClr val="2B67A1"/>
                </a:solidFill>
              </a:rPr>
              <a:t>Should BNPL Lenders Share Information?</a:t>
            </a:r>
          </a:p>
        </p:txBody>
      </p:sp>
      <p:sp>
        <p:nvSpPr>
          <p:cNvPr id="3" name="Content Placeholder 2">
            <a:extLst>
              <a:ext uri="{FF2B5EF4-FFF2-40B4-BE49-F238E27FC236}">
                <a16:creationId xmlns:a16="http://schemas.microsoft.com/office/drawing/2014/main" id="{AEC2414D-8914-599B-5E09-B650442D550F}"/>
              </a:ext>
            </a:extLst>
          </p:cNvPr>
          <p:cNvSpPr>
            <a:spLocks noGrp="1"/>
          </p:cNvSpPr>
          <p:nvPr>
            <p:ph idx="1"/>
          </p:nvPr>
        </p:nvSpPr>
        <p:spPr>
          <a:xfrm>
            <a:off x="838200" y="1825624"/>
            <a:ext cx="11353800" cy="4872887"/>
          </a:xfrm>
        </p:spPr>
        <p:txBody>
          <a:bodyPr>
            <a:normAutofit fontScale="85000" lnSpcReduction="10000"/>
          </a:bodyPr>
          <a:lstStyle/>
          <a:p>
            <a:r>
              <a:rPr lang="en-US" dirty="0"/>
              <a:t>BNPL lenders historically do not share information with consumer credit reporting agencies (Equifax, Experian, TransUnion) &amp; BNPL not a credit score input (FICO)</a:t>
            </a:r>
          </a:p>
          <a:p>
            <a:r>
              <a:rPr lang="en-US" b="1" dirty="0"/>
              <a:t>Why don’t BNPL lenders voluntarily share information? </a:t>
            </a:r>
          </a:p>
          <a:p>
            <a:pPr lvl="1"/>
            <a:r>
              <a:rPr lang="en-US" dirty="0"/>
              <a:t>BNPL use would be interpreted as negative signal (even if repaid loan)</a:t>
            </a:r>
          </a:p>
          <a:p>
            <a:pPr lvl="2"/>
            <a:r>
              <a:rPr lang="en-US" dirty="0"/>
              <a:t>FICO/</a:t>
            </a:r>
            <a:r>
              <a:rPr lang="en-US" dirty="0" err="1"/>
              <a:t>VantageScore</a:t>
            </a:r>
            <a:r>
              <a:rPr lang="en-US" dirty="0"/>
              <a:t> &amp; BNPL lenders working on adjusting this</a:t>
            </a:r>
          </a:p>
          <a:p>
            <a:pPr lvl="2"/>
            <a:r>
              <a:rPr lang="en-US" dirty="0"/>
              <a:t>Issue not specific to BNPL, also applies to credit building loans </a:t>
            </a:r>
            <a:r>
              <a:rPr lang="en-US" dirty="0">
                <a:solidFill>
                  <a:schemeClr val="bg1">
                    <a:lumMod val="50000"/>
                  </a:schemeClr>
                </a:solidFill>
              </a:rPr>
              <a:t>(Burke, Jamison, Karlan, Mihaly, &amp; Zinman, 2023) </a:t>
            </a:r>
            <a:r>
              <a:rPr lang="en-US" dirty="0"/>
              <a:t>and payday loans </a:t>
            </a:r>
            <a:r>
              <a:rPr lang="en-US" dirty="0">
                <a:solidFill>
                  <a:schemeClr val="bg1">
                    <a:lumMod val="50000"/>
                  </a:schemeClr>
                </a:solidFill>
              </a:rPr>
              <a:t>(Jansen, Kruger, Maturana, &amp; Shams, 2025)</a:t>
            </a:r>
          </a:p>
          <a:p>
            <a:pPr lvl="1"/>
            <a:r>
              <a:rPr lang="en-US" dirty="0"/>
              <a:t>BNPL lenders worried about credit card lenders targeting their profitable customers. </a:t>
            </a:r>
          </a:p>
          <a:p>
            <a:pPr lvl="2"/>
            <a:r>
              <a:rPr lang="en-US" dirty="0">
                <a:solidFill>
                  <a:schemeClr val="bg1">
                    <a:lumMod val="50000"/>
                  </a:schemeClr>
                </a:solidFill>
              </a:rPr>
              <a:t>Similar to credit card lenders’ information sharing decisions (Guttman-Kenney &amp; </a:t>
            </a:r>
            <a:r>
              <a:rPr lang="en-US" dirty="0" err="1">
                <a:solidFill>
                  <a:schemeClr val="bg1">
                    <a:lumMod val="50000"/>
                  </a:schemeClr>
                </a:solidFill>
              </a:rPr>
              <a:t>Shahidinejad</a:t>
            </a:r>
            <a:r>
              <a:rPr lang="en-US" dirty="0">
                <a:solidFill>
                  <a:schemeClr val="bg1">
                    <a:lumMod val="50000"/>
                  </a:schemeClr>
                </a:solidFill>
              </a:rPr>
              <a:t>, 2025)</a:t>
            </a:r>
            <a:endParaRPr lang="en-US" dirty="0"/>
          </a:p>
          <a:p>
            <a:pPr lvl="2"/>
            <a:r>
              <a:rPr lang="en-US" dirty="0"/>
              <a:t>Heterogeneity by BNPL lenders’ business models (e.g., Affirm competing with mainstream credit, Klarna finding new-to-credit customers) could mean some reduced access via reduced relationship lending</a:t>
            </a:r>
          </a:p>
          <a:p>
            <a:r>
              <a:rPr lang="en-US" b="1" dirty="0"/>
              <a:t>“How can BNPL payment histories be effectively integrated into traditional credit reporting systems to help borrowers build credit profiles?”</a:t>
            </a:r>
          </a:p>
          <a:p>
            <a:pPr marL="0" indent="0">
              <a:buNone/>
            </a:pPr>
            <a:r>
              <a:rPr lang="en-US" sz="2400" dirty="0"/>
              <a:t>   - U.S.  Department of Housing and Urban Development (HUD) Request for Information, June 2024</a:t>
            </a:r>
          </a:p>
          <a:p>
            <a:r>
              <a:rPr lang="en-US" dirty="0"/>
              <a:t>U.K. Financial Conduct Authority (2023) proposed mandating information sharing</a:t>
            </a:r>
          </a:p>
        </p:txBody>
      </p:sp>
    </p:spTree>
    <p:extLst>
      <p:ext uri="{BB962C8B-B14F-4D97-AF65-F5344CB8AC3E}">
        <p14:creationId xmlns:p14="http://schemas.microsoft.com/office/powerpoint/2010/main" val="1757978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AABD9-8FD3-13F0-E854-519CC4B26EE0}"/>
            </a:ext>
          </a:extLst>
        </p:cNvPr>
        <p:cNvGrpSpPr/>
        <p:nvPr/>
      </p:nvGrpSpPr>
      <p:grpSpPr>
        <a:xfrm>
          <a:off x="0" y="0"/>
          <a:ext cx="0" cy="0"/>
          <a:chOff x="0" y="0"/>
          <a:chExt cx="0" cy="0"/>
        </a:xfrm>
      </p:grpSpPr>
      <p:pic>
        <p:nvPicPr>
          <p:cNvPr id="4" name="Content Placeholder 4" descr="A screenshot of a computer&#10;&#10;AI-generated content may be incorrect.">
            <a:extLst>
              <a:ext uri="{FF2B5EF4-FFF2-40B4-BE49-F238E27FC236}">
                <a16:creationId xmlns:a16="http://schemas.microsoft.com/office/drawing/2014/main" id="{6CE138D9-92DF-E3EC-F878-4E5DBEA4A8C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78172" y="1369936"/>
            <a:ext cx="7851313" cy="3918756"/>
          </a:xfrm>
        </p:spPr>
      </p:pic>
      <p:sp>
        <p:nvSpPr>
          <p:cNvPr id="2" name="Title 1">
            <a:extLst>
              <a:ext uri="{FF2B5EF4-FFF2-40B4-BE49-F238E27FC236}">
                <a16:creationId xmlns:a16="http://schemas.microsoft.com/office/drawing/2014/main" id="{A4911D00-09B3-E556-14D1-500B5C16D5D2}"/>
              </a:ext>
            </a:extLst>
          </p:cNvPr>
          <p:cNvSpPr>
            <a:spLocks noGrp="1"/>
          </p:cNvSpPr>
          <p:nvPr>
            <p:ph type="title"/>
          </p:nvPr>
        </p:nvSpPr>
        <p:spPr/>
        <p:txBody>
          <a:bodyPr/>
          <a:lstStyle/>
          <a:p>
            <a:r>
              <a:rPr lang="en-US" b="1" dirty="0">
                <a:solidFill>
                  <a:srgbClr val="2B67A1"/>
                </a:solidFill>
              </a:rPr>
              <a:t>Thank You!</a:t>
            </a:r>
          </a:p>
        </p:txBody>
      </p:sp>
      <p:pic>
        <p:nvPicPr>
          <p:cNvPr id="8" name="Picture 7">
            <a:extLst>
              <a:ext uri="{FF2B5EF4-FFF2-40B4-BE49-F238E27FC236}">
                <a16:creationId xmlns:a16="http://schemas.microsoft.com/office/drawing/2014/main" id="{58EDB7CC-6E2C-A4C2-9CEA-3D07022D4920}"/>
              </a:ext>
            </a:extLst>
          </p:cNvPr>
          <p:cNvPicPr>
            <a:picLocks noChangeAspect="1"/>
          </p:cNvPicPr>
          <p:nvPr/>
        </p:nvPicPr>
        <p:blipFill>
          <a:blip r:embed="rId4"/>
          <a:stretch>
            <a:fillRect/>
          </a:stretch>
        </p:blipFill>
        <p:spPr>
          <a:xfrm>
            <a:off x="7566518" y="5092472"/>
            <a:ext cx="4014091" cy="1325564"/>
          </a:xfrm>
          <a:prstGeom prst="rect">
            <a:avLst/>
          </a:prstGeom>
        </p:spPr>
      </p:pic>
    </p:spTree>
    <p:extLst>
      <p:ext uri="{BB962C8B-B14F-4D97-AF65-F5344CB8AC3E}">
        <p14:creationId xmlns:p14="http://schemas.microsoft.com/office/powerpoint/2010/main" val="649586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B08F1-3FC5-0F2C-CA10-BD1508B462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12792A-4A3B-AD75-1669-677804A1BC48}"/>
              </a:ext>
            </a:extLst>
          </p:cNvPr>
          <p:cNvSpPr>
            <a:spLocks noGrp="1"/>
          </p:cNvSpPr>
          <p:nvPr>
            <p:ph type="title"/>
          </p:nvPr>
        </p:nvSpPr>
        <p:spPr>
          <a:xfrm>
            <a:off x="838200" y="365125"/>
            <a:ext cx="11353800" cy="1325563"/>
          </a:xfrm>
        </p:spPr>
        <p:txBody>
          <a:bodyPr/>
          <a:lstStyle/>
          <a:p>
            <a:r>
              <a:rPr lang="en-US" b="1" dirty="0">
                <a:solidFill>
                  <a:srgbClr val="2B67A1"/>
                </a:solidFill>
              </a:rPr>
              <a:t>BNPL vs. Bank BNPL</a:t>
            </a:r>
          </a:p>
        </p:txBody>
      </p:sp>
      <p:sp>
        <p:nvSpPr>
          <p:cNvPr id="3" name="Content Placeholder 2">
            <a:extLst>
              <a:ext uri="{FF2B5EF4-FFF2-40B4-BE49-F238E27FC236}">
                <a16:creationId xmlns:a16="http://schemas.microsoft.com/office/drawing/2014/main" id="{05463583-7392-DFFB-6298-0E6A97D4B8D2}"/>
              </a:ext>
            </a:extLst>
          </p:cNvPr>
          <p:cNvSpPr>
            <a:spLocks noGrp="1"/>
          </p:cNvSpPr>
          <p:nvPr>
            <p:ph idx="1"/>
          </p:nvPr>
        </p:nvSpPr>
        <p:spPr>
          <a:xfrm>
            <a:off x="838200" y="1560056"/>
            <a:ext cx="11353800" cy="5167312"/>
          </a:xfrm>
        </p:spPr>
        <p:txBody>
          <a:bodyPr>
            <a:normAutofit fontScale="55000" lnSpcReduction="20000"/>
          </a:bodyPr>
          <a:lstStyle/>
          <a:p>
            <a:pPr marL="0" indent="0">
              <a:buNone/>
            </a:pPr>
            <a:r>
              <a:rPr lang="en-US" b="1" dirty="0"/>
              <a:t>BNPL lenders (Affirm, </a:t>
            </a:r>
            <a:r>
              <a:rPr lang="en-US" b="1" dirty="0" err="1"/>
              <a:t>Afterpay</a:t>
            </a:r>
            <a:r>
              <a:rPr lang="en-US" b="1" dirty="0"/>
              <a:t>, Klarna, PayPal)</a:t>
            </a:r>
          </a:p>
          <a:p>
            <a:r>
              <a:rPr lang="en-US" dirty="0"/>
              <a:t>BNPL is payment option offered by merchant at point-of-sale (&amp; via app)</a:t>
            </a:r>
          </a:p>
          <a:p>
            <a:r>
              <a:rPr lang="en-US" dirty="0"/>
              <a:t>Merchant pays BNPL lender a merchant fee</a:t>
            </a:r>
          </a:p>
          <a:p>
            <a:r>
              <a:rPr lang="en-US" dirty="0"/>
              <a:t>Worthwhile for merchant to do so as offering BNPL increases sales</a:t>
            </a:r>
          </a:p>
          <a:p>
            <a:pPr marL="0" indent="0">
              <a:buNone/>
            </a:pPr>
            <a:r>
              <a:rPr lang="en-US" dirty="0">
                <a:solidFill>
                  <a:schemeClr val="bg1">
                    <a:lumMod val="50000"/>
                  </a:schemeClr>
                </a:solidFill>
              </a:rPr>
              <a:t>    (Desai &amp; Jindal, 2024; Berg, Burg, Keil, &amp; Puri, 2025; Maesen &amp; Ang, 2025)</a:t>
            </a:r>
          </a:p>
          <a:p>
            <a:r>
              <a:rPr lang="en-US" dirty="0"/>
              <a:t>Who would use? Liquidity constrained consumers, behavioral consumers (decouple pain of payment, anchoring, present bias)</a:t>
            </a:r>
          </a:p>
          <a:p>
            <a:pPr marL="0" indent="0">
              <a:buNone/>
            </a:pPr>
            <a:endParaRPr lang="en-US" dirty="0"/>
          </a:p>
          <a:p>
            <a:pPr marL="0" indent="0">
              <a:buNone/>
            </a:pPr>
            <a:r>
              <a:rPr lang="en-US" b="1" dirty="0"/>
              <a:t>“BNPL” offered by banks</a:t>
            </a:r>
          </a:p>
          <a:p>
            <a:r>
              <a:rPr lang="en-US" b="1" i="1" dirty="0"/>
              <a:t>Very</a:t>
            </a:r>
            <a:r>
              <a:rPr lang="en-US" dirty="0"/>
              <a:t> different proposition (at least in U.K. &amp; U.S.A.)</a:t>
            </a:r>
          </a:p>
          <a:p>
            <a:r>
              <a:rPr lang="en-US" dirty="0"/>
              <a:t>Consumer </a:t>
            </a:r>
            <a:r>
              <a:rPr lang="en-US" b="1" i="1" dirty="0"/>
              <a:t>already</a:t>
            </a:r>
            <a:r>
              <a:rPr lang="en-US" dirty="0"/>
              <a:t> made a purchase on credit/debit card with that bank</a:t>
            </a:r>
          </a:p>
          <a:p>
            <a:r>
              <a:rPr lang="en-US" dirty="0"/>
              <a:t>Consumer </a:t>
            </a:r>
            <a:r>
              <a:rPr lang="en-US" b="1" i="1" dirty="0"/>
              <a:t>later</a:t>
            </a:r>
            <a:r>
              <a:rPr lang="en-US" dirty="0"/>
              <a:t> selects a bank transaction to repay in installments</a:t>
            </a:r>
          </a:p>
          <a:p>
            <a:pPr marL="0" indent="0">
              <a:buNone/>
            </a:pPr>
            <a:endParaRPr lang="en-US" b="1" dirty="0"/>
          </a:p>
          <a:p>
            <a:pPr marL="0" indent="0">
              <a:buNone/>
            </a:pPr>
            <a:r>
              <a:rPr lang="en-US" b="1" dirty="0">
                <a:solidFill>
                  <a:srgbClr val="2B67A1"/>
                </a:solidFill>
              </a:rPr>
              <a:t>This paper studies a BNPL Lender who is part of a bank</a:t>
            </a:r>
          </a:p>
          <a:p>
            <a:pPr marL="0" indent="0">
              <a:buNone/>
            </a:pPr>
            <a:endParaRPr lang="en-US" dirty="0"/>
          </a:p>
          <a:p>
            <a:pPr marL="0" indent="0">
              <a:buNone/>
            </a:pPr>
            <a:r>
              <a:rPr lang="en-US" b="1" dirty="0"/>
              <a:t>A separate, interesting question that prior literature has not explained is why banks offer BNPL</a:t>
            </a:r>
            <a:endParaRPr lang="en-US" dirty="0"/>
          </a:p>
          <a:p>
            <a:r>
              <a:rPr lang="en-US" dirty="0"/>
              <a:t>Banks have more profitable credit offerings (credit cards, overdrafts) than BNPL</a:t>
            </a:r>
          </a:p>
          <a:p>
            <a:r>
              <a:rPr lang="en-US" dirty="0"/>
              <a:t>Competitive pressures from BNPL lenders? </a:t>
            </a:r>
          </a:p>
          <a:p>
            <a:r>
              <a:rPr lang="en-US" dirty="0"/>
              <a:t>Mechanism to acquire new customers / increase customer loyalty &amp; lifetime profits?</a:t>
            </a:r>
          </a:p>
        </p:txBody>
      </p:sp>
    </p:spTree>
    <p:extLst>
      <p:ext uri="{BB962C8B-B14F-4D97-AF65-F5344CB8AC3E}">
        <p14:creationId xmlns:p14="http://schemas.microsoft.com/office/powerpoint/2010/main" val="4093630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CCDF3-8B79-6EEF-AF7D-2F20344B4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6ABF4-98CA-6F0A-A5EE-5C71DF8073EB}"/>
              </a:ext>
            </a:extLst>
          </p:cNvPr>
          <p:cNvSpPr>
            <a:spLocks noGrp="1"/>
          </p:cNvSpPr>
          <p:nvPr>
            <p:ph type="title"/>
          </p:nvPr>
        </p:nvSpPr>
        <p:spPr>
          <a:xfrm>
            <a:off x="838200" y="365125"/>
            <a:ext cx="11353800" cy="1325563"/>
          </a:xfrm>
        </p:spPr>
        <p:txBody>
          <a:bodyPr/>
          <a:lstStyle/>
          <a:p>
            <a:r>
              <a:rPr lang="en-US" b="1" dirty="0">
                <a:solidFill>
                  <a:srgbClr val="2B67A1"/>
                </a:solidFill>
              </a:rPr>
              <a:t>Learning Channel Needs More Work</a:t>
            </a:r>
          </a:p>
        </p:txBody>
      </p:sp>
      <p:sp>
        <p:nvSpPr>
          <p:cNvPr id="3" name="Content Placeholder 2">
            <a:extLst>
              <a:ext uri="{FF2B5EF4-FFF2-40B4-BE49-F238E27FC236}">
                <a16:creationId xmlns:a16="http://schemas.microsoft.com/office/drawing/2014/main" id="{0FD9BD55-D3F4-13F5-A0E9-1C11CB79F95C}"/>
              </a:ext>
            </a:extLst>
          </p:cNvPr>
          <p:cNvSpPr>
            <a:spLocks noGrp="1"/>
          </p:cNvSpPr>
          <p:nvPr>
            <p:ph idx="1"/>
          </p:nvPr>
        </p:nvSpPr>
        <p:spPr>
          <a:xfrm>
            <a:off x="838200" y="1560056"/>
            <a:ext cx="11353800" cy="5167312"/>
          </a:xfrm>
        </p:spPr>
        <p:txBody>
          <a:bodyPr>
            <a:normAutofit/>
          </a:bodyPr>
          <a:lstStyle/>
          <a:p>
            <a:r>
              <a:rPr lang="en-US" dirty="0"/>
              <a:t>Not convinced results are explained by learning as opposed to different types of consumers having different likelihoods of repayment</a:t>
            </a:r>
          </a:p>
          <a:p>
            <a:r>
              <a:rPr lang="en-US" dirty="0"/>
              <a:t>To study learning channel, you need repeated interactions with a consumer over time</a:t>
            </a:r>
          </a:p>
          <a:p>
            <a:r>
              <a:rPr lang="en-US" dirty="0"/>
              <a:t>Follow consumers across multiple interactions pre &amp; post BNPL usage</a:t>
            </a:r>
          </a:p>
          <a:p>
            <a:pPr lvl="1"/>
            <a:r>
              <a:rPr lang="en-US" dirty="0"/>
              <a:t>What changes when control for person fixed effects, and compare applications and application outcomes going from without BNPL to with BNPL to multiple BNPL? Cluster at consumer-level.</a:t>
            </a:r>
          </a:p>
          <a:p>
            <a:r>
              <a:rPr lang="en-US" dirty="0"/>
              <a:t>Also do splits by age</a:t>
            </a:r>
          </a:p>
        </p:txBody>
      </p:sp>
    </p:spTree>
    <p:extLst>
      <p:ext uri="{BB962C8B-B14F-4D97-AF65-F5344CB8AC3E}">
        <p14:creationId xmlns:p14="http://schemas.microsoft.com/office/powerpoint/2010/main" val="3634890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63D7E-9CA9-B6F8-EEE4-8D08F3B6CD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35DF8-F62C-A364-A396-B24ED36A7A74}"/>
              </a:ext>
            </a:extLst>
          </p:cNvPr>
          <p:cNvSpPr>
            <a:spLocks noGrp="1"/>
          </p:cNvSpPr>
          <p:nvPr>
            <p:ph type="title"/>
          </p:nvPr>
        </p:nvSpPr>
        <p:spPr>
          <a:xfrm>
            <a:off x="838200" y="0"/>
            <a:ext cx="10515600" cy="1325563"/>
          </a:xfrm>
        </p:spPr>
        <p:txBody>
          <a:bodyPr/>
          <a:lstStyle/>
          <a:p>
            <a:r>
              <a:rPr lang="en-US" b="1" dirty="0">
                <a:solidFill>
                  <a:srgbClr val="2B67A1"/>
                </a:solidFill>
              </a:rPr>
              <a:t>Other Suggestions</a:t>
            </a:r>
          </a:p>
        </p:txBody>
      </p:sp>
      <p:sp>
        <p:nvSpPr>
          <p:cNvPr id="3" name="Content Placeholder 2">
            <a:extLst>
              <a:ext uri="{FF2B5EF4-FFF2-40B4-BE49-F238E27FC236}">
                <a16:creationId xmlns:a16="http://schemas.microsoft.com/office/drawing/2014/main" id="{2E80DED3-79B2-3FAB-EE67-4ECDE00A2179}"/>
              </a:ext>
            </a:extLst>
          </p:cNvPr>
          <p:cNvSpPr>
            <a:spLocks noGrp="1"/>
          </p:cNvSpPr>
          <p:nvPr>
            <p:ph idx="1"/>
          </p:nvPr>
        </p:nvSpPr>
        <p:spPr>
          <a:xfrm>
            <a:off x="0" y="939800"/>
            <a:ext cx="12192000" cy="5918200"/>
          </a:xfrm>
        </p:spPr>
        <p:txBody>
          <a:bodyPr>
            <a:noAutofit/>
          </a:bodyPr>
          <a:lstStyle/>
          <a:p>
            <a:pPr>
              <a:buFont typeface="+mj-lt"/>
              <a:buAutoNum type="arabicPeriod"/>
            </a:pPr>
            <a:r>
              <a:rPr lang="en-US" sz="800" dirty="0"/>
              <a:t>I didn’t get anything from the framework in Appendix D. The idea that a bank will update its pricing in response to new information is obvious, and that it will only lend to be profitable. It shouldn’t take 38 equations to make the point. Make it simply or drop entirely. The framework also completely ignores two key ideas: (1) relationship lending that means that firms may make loss-making loans to attract customers who become profitable over time through repeat business (2) preferences &amp; bank market power that means that a bank (as an inside lender) can make loans at a higher interest rate than outside lenders without an existing relationship.</a:t>
            </a:r>
          </a:p>
          <a:p>
            <a:pPr>
              <a:buFont typeface="+mj-lt"/>
              <a:buAutoNum type="arabicPeriod"/>
            </a:pPr>
            <a:r>
              <a:rPr lang="en-US" sz="800" dirty="0"/>
              <a:t>Link to theory on how private information can lead to credit rationing e.g., Stiglitz &amp; Weiss. Can also link to FinTech literature e.g., Di Maggio &amp; Yao (2021) Review of Financial Studies and literature on credit information signals e.g., Blattner &amp; Nelson (2024). </a:t>
            </a:r>
          </a:p>
          <a:p>
            <a:pPr>
              <a:buFont typeface="+mj-lt"/>
              <a:buAutoNum type="arabicPeriod"/>
            </a:pPr>
            <a:r>
              <a:rPr lang="en-US" sz="800" dirty="0"/>
              <a:t>Some other new BNPL citations to review and add in. Desai &amp; Jindal (2024) Quantitative Marketing and Economics. Theory on BNPL lending. Shupe and </a:t>
            </a:r>
            <a:r>
              <a:rPr lang="en-US" sz="800" dirty="0" err="1"/>
              <a:t>Palloni</a:t>
            </a:r>
            <a:r>
              <a:rPr lang="en-US" sz="800" dirty="0"/>
              <a:t> (2025) CFPB Working Paper on effects of BNPL on consumers. Maeson &amp; Ang (2025) Journal of Marketing. Effects of BNPL on merchants.</a:t>
            </a:r>
          </a:p>
          <a:p>
            <a:pPr>
              <a:buFont typeface="+mj-lt"/>
              <a:buAutoNum type="arabicPeriod"/>
            </a:pPr>
            <a:r>
              <a:rPr lang="en-US" sz="800" dirty="0"/>
              <a:t>Section 5 needs citations for statements about prior research. It is not clear what papers you are referring to</a:t>
            </a:r>
          </a:p>
          <a:p>
            <a:pPr>
              <a:buFont typeface="+mj-lt"/>
              <a:buAutoNum type="arabicPeriod"/>
            </a:pPr>
            <a:r>
              <a:rPr lang="en-US" sz="800" dirty="0"/>
              <a:t>The sample construction is a bit odd. “</a:t>
            </a:r>
            <a:r>
              <a:rPr lang="en-US" sz="800" i="1" dirty="0"/>
              <a:t>We exclude internal customers with a prior relationship with the bank through other services than BNPL”</a:t>
            </a:r>
            <a:r>
              <a:rPr lang="en-US" sz="800" dirty="0"/>
              <a:t>. You are restricting on the outcome of interest. Maybe you are doing so to exclude relationship lending, but please be clear on the reasoning. Similarly, the focus on first time applicants makes sense to me but it would help to explain why you are doing this</a:t>
            </a:r>
          </a:p>
          <a:p>
            <a:pPr>
              <a:buFont typeface="+mj-lt"/>
              <a:buAutoNum type="arabicPeriod"/>
            </a:pPr>
            <a:r>
              <a:rPr lang="en-US" sz="800" dirty="0"/>
              <a:t>What are these unsecured loans used for? How I view consumers taking out this debt very much depends on how they are used</a:t>
            </a:r>
          </a:p>
          <a:p>
            <a:pPr>
              <a:buFont typeface="+mj-lt"/>
              <a:buAutoNum type="arabicPeriod"/>
            </a:pPr>
            <a:r>
              <a:rPr lang="en-US" sz="800" dirty="0"/>
              <a:t>What are the substitutes for BNPL in your setting. Credit cards? Consumer loans?</a:t>
            </a:r>
          </a:p>
          <a:p>
            <a:pPr>
              <a:buFont typeface="+mj-lt"/>
              <a:buAutoNum type="arabicPeriod"/>
            </a:pPr>
            <a:r>
              <a:rPr lang="en-US" sz="800" dirty="0"/>
              <a:t>I found the language ‘internal/external BNPL’ confusing because you don’t observe BNPL with other lenders. All BNPL lending is internal to that bank. Mayber ‘recent BNPL’ and ‘no recent BNPL’?</a:t>
            </a:r>
          </a:p>
          <a:p>
            <a:pPr>
              <a:buFont typeface="+mj-lt"/>
              <a:buAutoNum type="arabicPeriod"/>
            </a:pPr>
            <a:r>
              <a:rPr lang="en-US" sz="800" dirty="0"/>
              <a:t>Section 3.1 uses ‘BNPL Customer’ but the tables use ‘Internal BNPL’ . It would help the reader to be consistent in terminology</a:t>
            </a:r>
          </a:p>
          <a:p>
            <a:pPr>
              <a:buFont typeface="+mj-lt"/>
              <a:buAutoNum type="arabicPeriod"/>
            </a:pPr>
            <a:r>
              <a:rPr lang="en-US" sz="800" dirty="0"/>
              <a:t>In section 2.2 it would be helpful to report how many BNPL users there are in the full sample before applying restrictions that substantially reduce the size of the dataset</a:t>
            </a:r>
          </a:p>
          <a:p>
            <a:pPr>
              <a:buFont typeface="+mj-lt"/>
              <a:buAutoNum type="arabicPeriod"/>
            </a:pPr>
            <a:r>
              <a:rPr lang="en-US" sz="800" dirty="0"/>
              <a:t>People don’t normally use OLS to predict delinquency because it is highly non-linear. Logistic or ML models would align closer to the literature and what industry does</a:t>
            </a:r>
          </a:p>
          <a:p>
            <a:pPr>
              <a:buFont typeface="+mj-lt"/>
              <a:buAutoNum type="arabicPeriod"/>
            </a:pPr>
            <a:r>
              <a:rPr lang="en-US" sz="800" dirty="0"/>
              <a:t>With fixed effects, constant not very informative – no need to include in tables. It is distracting because it changes a lot across models with different fixed effects but that isn’t meaningful</a:t>
            </a:r>
          </a:p>
          <a:p>
            <a:pPr>
              <a:buFont typeface="+mj-lt"/>
              <a:buAutoNum type="arabicPeriod"/>
            </a:pPr>
            <a:r>
              <a:rPr lang="en-US" sz="800" dirty="0"/>
              <a:t>Applying Finkelstein &amp; Poterba (2014 Journal of Risk and Insurance) test for adverse selection using BNPL information not used by lender</a:t>
            </a:r>
          </a:p>
          <a:p>
            <a:pPr>
              <a:buFont typeface="+mj-lt"/>
              <a:buAutoNum type="arabicPeriod"/>
            </a:pPr>
            <a:r>
              <a:rPr lang="en-US" sz="800" dirty="0"/>
              <a:t>If there are multiple observations per consumer you should cluster standard errors in Equation 1 by consumer</a:t>
            </a:r>
          </a:p>
          <a:p>
            <a:pPr>
              <a:buFont typeface="+mj-lt"/>
              <a:buAutoNum type="arabicPeriod"/>
            </a:pPr>
            <a:r>
              <a:rPr lang="en-US" sz="800" dirty="0"/>
              <a:t>In Figure 1 it would be helpful to show the Y axis in percent so it is more easily interpreted. Or show a CDF</a:t>
            </a:r>
          </a:p>
          <a:p>
            <a:pPr>
              <a:buFont typeface="+mj-lt"/>
              <a:buAutoNum type="arabicPeriod"/>
            </a:pPr>
            <a:r>
              <a:rPr lang="en-US" sz="800" dirty="0"/>
              <a:t>In Figures 2 and A1, there’s very few observations in most of these quadrants. It may be clearer to present 10 quantiles to ensure sufficient observations in each cell.  Similarly, in Figure 4, there’s effectively no observations after ~4 so the line is not that insightful. Suggest presenting as a </a:t>
            </a:r>
            <a:r>
              <a:rPr lang="en-US" sz="800" dirty="0" err="1"/>
              <a:t>binscatter</a:t>
            </a:r>
            <a:r>
              <a:rPr lang="en-US" sz="800" dirty="0"/>
              <a:t> instead</a:t>
            </a:r>
          </a:p>
          <a:p>
            <a:pPr>
              <a:buFont typeface="+mj-lt"/>
              <a:buAutoNum type="arabicPeriod"/>
            </a:pPr>
            <a:r>
              <a:rPr lang="en-US" sz="800" dirty="0"/>
              <a:t>Before Table 3 you would benefit by setting up and discussing why the sign is theoretically ambiguous, what this means, and so important to estimate</a:t>
            </a:r>
          </a:p>
          <a:p>
            <a:pPr>
              <a:buFont typeface="+mj-lt"/>
              <a:buAutoNum type="arabicPeriod"/>
            </a:pPr>
            <a:r>
              <a:rPr lang="en-US" sz="800" dirty="0"/>
              <a:t>Table 4, looking at the r-squared there is quite a lot of unexplained variation in offered rates. Are there other variables that the lender uses beyond external credit score that you observe? If so, you should include these.</a:t>
            </a:r>
          </a:p>
          <a:p>
            <a:pPr>
              <a:buFont typeface="+mj-lt"/>
              <a:buAutoNum type="arabicPeriod"/>
            </a:pPr>
            <a:r>
              <a:rPr lang="en-US" sz="800" dirty="0"/>
              <a:t>Internal and external credit scores have different ranges. This makes them hard to compare. It would be helpful to report the correlation between them and/or the r2 from a regression (linear probably ok but if not try something non-parametric) of one on the other</a:t>
            </a:r>
          </a:p>
          <a:p>
            <a:pPr>
              <a:buFont typeface="+mj-lt"/>
              <a:buAutoNum type="arabicPeriod"/>
            </a:pPr>
            <a:r>
              <a:rPr lang="en-US" sz="800" dirty="0"/>
              <a:t>Do  formal covariate balance tests for internal vs. external BNPL users in Table 2 to test whether they are similar on observables. As your identification strategy is conditional on observables, you should be including any differences  in all regressions</a:t>
            </a:r>
          </a:p>
          <a:p>
            <a:pPr>
              <a:buFont typeface="+mj-lt"/>
              <a:buAutoNum type="arabicPeriod"/>
            </a:pPr>
            <a:r>
              <a:rPr lang="en-US" sz="800" dirty="0"/>
              <a:t>Quantifying the interest savings e.g., given X% interest rate reduction, and consumer loan of size $Y, a typical consumer would save $Z in interest over the course of the consumer loans. Then given K consumers use BNPL this equates to $L aggregate savings</a:t>
            </a:r>
          </a:p>
        </p:txBody>
      </p:sp>
    </p:spTree>
    <p:extLst>
      <p:ext uri="{BB962C8B-B14F-4D97-AF65-F5344CB8AC3E}">
        <p14:creationId xmlns:p14="http://schemas.microsoft.com/office/powerpoint/2010/main" val="2644761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1626</TotalTime>
  <Words>2389</Words>
  <Application>Microsoft Macintosh PowerPoint</Application>
  <PresentationFormat>Widescreen</PresentationFormat>
  <Paragraphs>155</Paragraphs>
  <Slides>16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Discussion of  “Buy Now Pay (Less) Later: Leveraging Private BNPL Data in Consumer Banking”  - Laudenbach, Molin, Roszbach, &amp; Sondershaus  Benedict Guttman-Kenney Rice University  10 July 2025 </vt:lpstr>
      <vt:lpstr>What This Paper Does: How Does Observing BNPL Information Affect A Bank’s Non-BNPL Lending?</vt:lpstr>
      <vt:lpstr>#1: Identification</vt:lpstr>
      <vt:lpstr>Effects of BNPL Usage In This Paper Apply To A Small Subset Of Consumers (Average Age ~50)</vt:lpstr>
      <vt:lpstr>Marginal Information from BNPL in Credit Score</vt:lpstr>
      <vt:lpstr>Prediction Problem Or Causal Problem?</vt:lpstr>
      <vt:lpstr>#2: Extensive Margin</vt:lpstr>
      <vt:lpstr>Paper Finds “That BNPL Transaction Data Can Expand Credit Access”</vt:lpstr>
      <vt:lpstr>#3: Information Sharing</vt:lpstr>
      <vt:lpstr> How To Access Better Credit In The U.S. (+U.K.)</vt:lpstr>
      <vt:lpstr>The Problem With… How To Access Better Credit In The U.S. (+U.K.)</vt:lpstr>
      <vt:lpstr>The Big Unanswered Question:  Should BNPL Lenders Share Information?</vt:lpstr>
      <vt:lpstr>Thank You!</vt:lpstr>
      <vt:lpstr>BNPL vs. Bank BNPL</vt:lpstr>
      <vt:lpstr>Learning Channel Needs More Work</vt:lpstr>
      <vt:lpstr>Other Suggestions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Benedict Guttman-Kenney</dc:creator>
  <cp:lastModifiedBy>Benedict Guttman-Kenney</cp:lastModifiedBy>
  <cp:revision>704</cp:revision>
  <dcterms:created xsi:type="dcterms:W3CDTF">2025-07-03T18:55:27Z</dcterms:created>
  <dcterms:modified xsi:type="dcterms:W3CDTF">2025-07-10T07:18:14Z</dcterms:modified>
</cp:coreProperties>
</file>